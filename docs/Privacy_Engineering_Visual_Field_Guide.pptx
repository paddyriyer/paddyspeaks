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notesMasterIdLst>
    <p:notesMasterId r:id="rId1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notesMaster" Target="notesMasters/notesMaster1.xml"/><Relationship Id="rId119" Type="http://schemas.openxmlformats.org/officeDocument/2006/relationships/presProps" Target="presProps.xml"/><Relationship Id="rId120" Type="http://schemas.openxmlformats.org/officeDocument/2006/relationships/viewProps" Target="viewProps.xml"/><Relationship Id="rId121" Type="http://schemas.openxmlformats.org/officeDocument/2006/relationships/theme" Target="theme/theme1.xml"/><Relationship Id="rId1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C1B19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C1B19"/>
                </a:solidFill>
                <a:latin typeface="Cambria"/>
              </a:rPr>
              <a:t>Noise scale b = Δ / ε  (Δ = 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Noise scale b</c:v>
                </c:pt>
              </c:strCache>
            </c:strRef>
          </c:tx>
          <c:spPr>
            <a:solidFill>
              <a:srgbClr val="D6452A"/>
            </a:solidFill>
            <a:ln w="38100" cap="flat">
              <a:solidFill>
                <a:srgbClr val="D645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B1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6452A"/>
              </a:solidFill>
              <a:ln w="9525" cap="flat">
                <a:solidFill>
                  <a:srgbClr val="D645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0.1</c:v>
                  </c:pt>
                  <c:pt idx="1">
                    <c:v>0.25</c:v>
                  </c:pt>
                  <c:pt idx="2">
                    <c:v>0.5</c:v>
                  </c:pt>
                  <c:pt idx="3">
                    <c:v>1</c:v>
                  </c:pt>
                  <c:pt idx="4">
                    <c:v>2</c:v>
                  </c:pt>
                  <c:pt idx="5">
                    <c:v>4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0.5</c:v>
                </c:pt>
                <c:pt idx="5">
                  <c:v>0.25</c:v>
                </c:pt>
                <c:pt idx="6">
                  <c:v>0.125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B1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35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358"/>
                    </a:solidFill>
                    <a:latin typeface="Arial"/>
                  </a:rPr>
                  <a:t>ε (privacy budget)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3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DDC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35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358"/>
                    </a:solidFill>
                    <a:latin typeface="Arial"/>
                  </a:rPr>
                  <a:t>noise scale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3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moves in order. In a workshop, give ~2 minutes to clarify + draw, ~5 to exposure and designs, ~3 to trade-offs and the recommendation. Invite the room to push on any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image" Target="../media/image-7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image" Target="../media/image-82-5.png"/><Relationship Id="rId6" Type="http://schemas.openxmlformats.org/officeDocument/2006/relationships/image" Target="../media/image-8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image" Target="../media/image-95-6.png"/><Relationship Id="rId7" Type="http://schemas.openxmlformats.org/officeDocument/2006/relationships/image" Target="../media/image-95-7.png"/><Relationship Id="rId8" Type="http://schemas.openxmlformats.org/officeDocument/2006/relationships/image" Target="../media/image-9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image" Target="../media/image-10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image" Target="../media/image-104-5.png"/><Relationship Id="rId6" Type="http://schemas.openxmlformats.org/officeDocument/2006/relationships/image" Target="../media/image-1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VISUAL FIELD GUIDE · 2026 EDITION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6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Principles to Real Products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 → engineering controls → product reviews → how Apple ships it. Four levels, one mental model.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83480"/>
            <a:ext cx="1463040" cy="384048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4983480"/>
            <a:ext cx="1463040" cy="384048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4983480"/>
            <a:ext cx="1463040" cy="384048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77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complete newbie and the working expert alike.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4846320"/>
            <a:ext cx="1188720" cy="1417320"/>
          </a:xfrm>
          <a:prstGeom prst="rect">
            <a:avLst/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40880" y="4937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3886200"/>
            <a:ext cx="1188720" cy="2377440"/>
          </a:xfrm>
          <a:prstGeom prst="rect">
            <a:avLst/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93608" y="3977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09176" y="2926080"/>
            <a:ext cx="1188720" cy="3337560"/>
          </a:xfrm>
          <a:prstGeom prst="rect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46336" y="3017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500616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61904" y="1965960"/>
            <a:ext cx="1188720" cy="4297680"/>
          </a:xfrm>
          <a:prstGeom prst="rect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799064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10753344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 rot="-420000">
            <a:off x="7406640" y="960120"/>
            <a:ext cx="2468880" cy="502920"/>
          </a:xfrm>
          <a:prstGeom prst="roundRect">
            <a:avLst>
              <a:gd name="adj" fmla="val 10909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NEWBIE → EXPERT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USE THIS GUIDE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deck. Four levels. Three ways to read it.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where you need. Each level revisits the same ideas at a deeper resolution.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554480" y="1874520"/>
            <a:ext cx="5715000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737360" y="20025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MINDSET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02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03–14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2677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privacy is — and is not — told through real-life scenarios.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2898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554480" y="2898648"/>
            <a:ext cx="5715000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737360" y="3026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0266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15–30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291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identity, harms, lifecycle, law, consent, retention, deletion.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" y="392277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1554480" y="3922776"/>
            <a:ext cx="5715000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737360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40507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31–64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43159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PETs, threat models, reviews, cases — plus the tracking module.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946904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48640" y="494690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1554480" y="4946904"/>
            <a:ext cx="5715000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737360" y="5074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65–113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737360" y="53400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 its own words, the incentives underneath, then practice.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43800" y="1874520"/>
            <a:ext cx="4099255" cy="3941064"/>
          </a:xfrm>
          <a:prstGeom prst="roundRect">
            <a:avLst>
              <a:gd name="adj" fmla="val 3248"/>
            </a:avLst>
          </a:prstGeom>
          <a:solidFill>
            <a:srgbClr val="F2C14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8181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YOUR PATH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18120" y="2487168"/>
            <a:ext cx="566928" cy="56692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9852" y="2628900"/>
            <a:ext cx="283464" cy="28346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8549640" y="24688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to privacy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8549640" y="2779776"/>
            <a:ext cx="2864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0 → 1, then the glossary on p. 114. Say each slide’s key idea out loud.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818120" y="3566160"/>
            <a:ext cx="566928" cy="56692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852" y="3707892"/>
            <a:ext cx="283464" cy="283464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8549640" y="354787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engineer</a:t>
            </a:r>
            <a:endParaRPr lang="en-US" sz="1700" dirty="0"/>
          </a:p>
        </p:txBody>
      </p:sp>
      <p:sp>
        <p:nvSpPr>
          <p:cNvPr id="44" name="Text 40"/>
          <p:cNvSpPr txBox="1"/>
          <p:nvPr/>
        </p:nvSpPr>
        <p:spPr>
          <a:xfrm>
            <a:off x="8549640" y="3858768"/>
            <a:ext cx="2864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Level 1. Live in Level 2 — PETs, threat models, enforcement.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7818120" y="4645152"/>
            <a:ext cx="566928" cy="56692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4786884"/>
            <a:ext cx="283464" cy="283464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8549640" y="462686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session</a:t>
            </a:r>
            <a:endParaRPr lang="en-US" sz="1700" dirty="0"/>
          </a:p>
        </p:txBody>
      </p:sp>
      <p:sp>
        <p:nvSpPr>
          <p:cNvPr id="48" name="Text 43"/>
          <p:cNvSpPr txBox="1"/>
          <p:nvPr/>
        </p:nvSpPr>
        <p:spPr>
          <a:xfrm>
            <a:off x="8549640" y="4937760"/>
            <a:ext cx="2864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real-life scenario (pp. 08–13), one case (pp. 47–49), then the drill (p. 85) and the one-page model (p. 113).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9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-182880"/>
            <a:ext cx="512064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0" b="1" dirty="0">
                <a:solidFill>
                  <a:srgbClr val="CC8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 · MINDSET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human problem.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not a checkbox. It is the discipline of limiting unwanted exposure and unwanted use of information about people.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LEVEL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47091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4709160"/>
            <a:ext cx="217627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CONTEXTUAL INTEGRITY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57216" y="4709160"/>
            <a:ext cx="198424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≠ SECURITY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66360"/>
            <a:ext cx="112014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LIFE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96796" y="51663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1C1B1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C1B19"/>
          </a:solidFill>
          <a:ln w="15875">
            <a:solidFill>
              <a:srgbClr val="1C1B1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1C1B1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1C1B1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1C1B1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THE ROLE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privacy engineer turns promises into mechanisms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write what must be true. Product decides what users should feel. You make the system actually behave that way.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3502152" cy="3383280"/>
          </a:xfrm>
          <a:prstGeom prst="roundRect">
            <a:avLst>
              <a:gd name="adj" fmla="val 378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43150"/>
            <a:ext cx="388620" cy="3886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862072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HAT 01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1089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Reviewer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566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designs before launch and finds the exposure nobody drew on the whiteboard.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7365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required changes, a risk rating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343400" y="1874520"/>
            <a:ext cx="3502152" cy="3383280"/>
          </a:xfrm>
          <a:prstGeom prst="roundRect">
            <a:avLst>
              <a:gd name="adj" fmla="val 378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2148840"/>
            <a:ext cx="777240" cy="77724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343150"/>
            <a:ext cx="388620" cy="3886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656832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HAT 02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31089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3566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the controls: consent plumbing, deletion pipelines, DP libraries, access guards.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47365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Libraries, platforms, deploy gates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138160" y="1874520"/>
            <a:ext cx="3502152" cy="3383280"/>
          </a:xfrm>
          <a:prstGeom prst="roundRect">
            <a:avLst>
              <a:gd name="adj" fmla="val 378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412480" y="2148840"/>
            <a:ext cx="777240" cy="7772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90" y="2343150"/>
            <a:ext cx="388620" cy="3886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451592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HAT 03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8412480" y="31089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Auditor</a:t>
            </a:r>
            <a:endParaRPr lang="en-US" sz="2400" dirty="0"/>
          </a:p>
        </p:txBody>
      </p:sp>
      <p:sp>
        <p:nvSpPr>
          <p:cNvPr id="32" name="Text 27"/>
          <p:cNvSpPr txBox="1"/>
          <p:nvPr/>
        </p:nvSpPr>
        <p:spPr>
          <a:xfrm>
            <a:off x="8412480" y="3566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what really runs: logs, joins, retention, and runtime enforcement.</a:t>
            </a:r>
            <a:endParaRPr lang="en-US" sz="1450" dirty="0"/>
          </a:p>
        </p:txBody>
      </p:sp>
      <p:sp>
        <p:nvSpPr>
          <p:cNvPr id="33" name="Text 28"/>
          <p:cNvSpPr txBox="1"/>
          <p:nvPr/>
        </p:nvSpPr>
        <p:spPr>
          <a:xfrm>
            <a:off x="8412480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8412480" y="47365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Invariants, dashboards, incident fixes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BE3BD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 not saying no. It is finding the design where the product works and the exposure shrinks.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Conceptual primer · NIST Privacy Framework perspective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FIRST PRINCIPLE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control over exposure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be perfectly secure and still be privacy-invasive.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669280" cy="4160520"/>
          </a:xfrm>
          <a:prstGeom prst="roundRect">
            <a:avLst>
              <a:gd name="adj" fmla="val 3077"/>
            </a:avLst>
          </a:prstGeom>
          <a:solidFill>
            <a:srgbClr val="FBE3B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496312"/>
            <a:ext cx="91" cy="141732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H="1">
            <a:off x="3383280" y="3204972"/>
            <a:ext cx="1860950" cy="70866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3913632"/>
            <a:ext cx="1860950" cy="70866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383280" y="3913632"/>
            <a:ext cx="91" cy="141732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H="1">
            <a:off x="1522330" y="3913632"/>
            <a:ext cx="1860950" cy="70866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522330" y="3204972"/>
            <a:ext cx="1860950" cy="708660"/>
          </a:xfrm>
          <a:prstGeom prst="line">
            <a:avLst/>
          </a:prstGeom>
          <a:noFill/>
          <a:ln w="19050">
            <a:solidFill>
              <a:srgbClr val="B9A68A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2606040" y="3136392"/>
            <a:ext cx="1554480" cy="1554480"/>
          </a:xfrm>
          <a:prstGeom prst="ellipse">
            <a:avLst/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054096" y="216712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2331720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2651760" y="2843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15046" y="287578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638" y="304038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512710" y="35524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915046" y="429310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638" y="4457700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512710" y="49697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054096" y="500176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5166360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651760" y="5678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193146" y="429310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38" y="445770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90810" y="49697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193146" y="2875788"/>
            <a:ext cx="658368" cy="658368"/>
          </a:xfrm>
          <a:prstGeom prst="ellipse">
            <a:avLst/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738" y="3040380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90810" y="35524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BROKER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6537960" y="1828800"/>
            <a:ext cx="5105095" cy="416052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6858000" y="2011680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three questions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6858000" y="2651760"/>
            <a:ext cx="548640" cy="54864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7589520" y="2624328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exposed?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7589520" y="2990088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derived, and inferred — inference counts as collection.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6858000" y="3730752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3" name="Text 35"/>
          <p:cNvSpPr txBox="1"/>
          <p:nvPr/>
        </p:nvSpPr>
        <p:spPr>
          <a:xfrm>
            <a:off x="7589520" y="3703320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whom — and why?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7589520" y="406908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recipient needs a purpose you could say out loud to the user.</a:t>
            </a:r>
            <a:endParaRPr lang="en-US" sz="1350" dirty="0"/>
          </a:p>
        </p:txBody>
      </p:sp>
      <p:sp>
        <p:nvSpPr>
          <p:cNvPr id="45" name="Text 37"/>
          <p:cNvSpPr txBox="1"/>
          <p:nvPr/>
        </p:nvSpPr>
        <p:spPr>
          <a:xfrm>
            <a:off x="6858000" y="4809744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7589520" y="4782312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user reasonably control it?</a:t>
            </a:r>
            <a:endParaRPr lang="en-US" sz="1800" dirty="0"/>
          </a:p>
        </p:txBody>
      </p:sp>
      <p:sp>
        <p:nvSpPr>
          <p:cNvPr id="47" name="Text 39"/>
          <p:cNvSpPr txBox="1"/>
          <p:nvPr/>
        </p:nvSpPr>
        <p:spPr>
          <a:xfrm>
            <a:off x="7589520" y="5148072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it, stop it, correct it, delete 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Framework: H. Nissenbaum, Privacy in Context (2010)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CONTEXTUAL INTEGRITY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data. Different flow. Different verdict.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Nissenbaum's idea: privacy breaks when information flows against the norms of the context it came from.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7627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34440" y="18745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108960" y="2350008"/>
            <a:ext cx="292608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74720" y="1874520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39312" y="2121408"/>
            <a:ext cx="457200" cy="4572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223570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06240" y="2002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doctor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206240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by everyone involved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99632" y="1874520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64224" y="2121408"/>
            <a:ext cx="457200" cy="45720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23570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31152" y="2002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insurer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931152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a clear, disclosed basis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924544" y="1874520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89136" y="2121408"/>
            <a:ext cx="457200" cy="45720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36" y="223570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56064" y="2002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employer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656064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norm of the clinic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48640" y="3044952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4670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3044952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Precise location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3108960" y="3520440"/>
            <a:ext cx="292608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3474720" y="3044952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39312" y="3291840"/>
            <a:ext cx="457200" cy="4572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612" y="340614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20624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maps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206240" y="3529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you shared it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199632" y="3044952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364224" y="3291840"/>
            <a:ext cx="457200" cy="4572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524" y="3406140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931152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you chose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6931152" y="3529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flow yourself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8924544" y="3044952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089136" y="3291840"/>
            <a:ext cx="457200" cy="45720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406140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656064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broker</a:t>
            </a:r>
            <a:endParaRPr lang="en-US" sz="1400" dirty="0"/>
          </a:p>
        </p:txBody>
      </p:sp>
      <p:sp>
        <p:nvSpPr>
          <p:cNvPr id="48" name="Text 38"/>
          <p:cNvSpPr txBox="1"/>
          <p:nvPr/>
        </p:nvSpPr>
        <p:spPr>
          <a:xfrm>
            <a:off x="9656064" y="3529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on without your knowledge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548640" y="4215384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517136"/>
            <a:ext cx="347472" cy="34747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234440" y="421538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history</a:t>
            </a:r>
            <a:endParaRPr lang="en-US" sz="1700" dirty="0"/>
          </a:p>
        </p:txBody>
      </p:sp>
      <p:sp>
        <p:nvSpPr>
          <p:cNvPr id="52" name="Shape 41"/>
          <p:cNvSpPr/>
          <p:nvPr/>
        </p:nvSpPr>
        <p:spPr>
          <a:xfrm>
            <a:off x="3108960" y="4690872"/>
            <a:ext cx="292608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3474720" y="4215384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3639312" y="4462272"/>
            <a:ext cx="457200" cy="4572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3612" y="4576572"/>
            <a:ext cx="228600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420624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&amp; returns</a:t>
            </a:r>
            <a:endParaRPr lang="en-US" sz="1400" dirty="0"/>
          </a:p>
        </p:txBody>
      </p:sp>
      <p:sp>
        <p:nvSpPr>
          <p:cNvPr id="57" name="Text 45"/>
          <p:cNvSpPr txBox="1"/>
          <p:nvPr/>
        </p:nvSpPr>
        <p:spPr>
          <a:xfrm>
            <a:off x="4206240" y="47000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transaction</a:t>
            </a:r>
            <a:endParaRPr lang="en-US" sz="1150" dirty="0"/>
          </a:p>
        </p:txBody>
      </p:sp>
      <p:sp>
        <p:nvSpPr>
          <p:cNvPr id="58" name="Shape 46"/>
          <p:cNvSpPr/>
          <p:nvPr/>
        </p:nvSpPr>
        <p:spPr>
          <a:xfrm>
            <a:off x="6199632" y="4215384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6364224" y="4462272"/>
            <a:ext cx="457200" cy="45720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8524" y="4576572"/>
            <a:ext cx="228600" cy="2286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6931152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checks</a:t>
            </a:r>
            <a:endParaRPr lang="en-US" sz="1400" dirty="0"/>
          </a:p>
        </p:txBody>
      </p:sp>
      <p:sp>
        <p:nvSpPr>
          <p:cNvPr id="62" name="Text 49"/>
          <p:cNvSpPr txBox="1"/>
          <p:nvPr/>
        </p:nvSpPr>
        <p:spPr>
          <a:xfrm>
            <a:off x="6931152" y="47000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if proportionate</a:t>
            </a:r>
            <a:endParaRPr lang="en-US" sz="1150" dirty="0"/>
          </a:p>
        </p:txBody>
      </p:sp>
      <p:sp>
        <p:nvSpPr>
          <p:cNvPr id="63" name="Shape 50"/>
          <p:cNvSpPr/>
          <p:nvPr/>
        </p:nvSpPr>
        <p:spPr>
          <a:xfrm>
            <a:off x="8924544" y="4215384"/>
            <a:ext cx="256032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4" name="Shape 51"/>
          <p:cNvSpPr/>
          <p:nvPr/>
        </p:nvSpPr>
        <p:spPr>
          <a:xfrm>
            <a:off x="9089136" y="4462272"/>
            <a:ext cx="457200" cy="45720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576572"/>
            <a:ext cx="228600" cy="2286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9656064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inference for ads</a:t>
            </a:r>
            <a:endParaRPr lang="en-US" sz="1400" dirty="0"/>
          </a:p>
        </p:txBody>
      </p:sp>
      <p:sp>
        <p:nvSpPr>
          <p:cNvPr id="67" name="Text 53"/>
          <p:cNvSpPr txBox="1"/>
          <p:nvPr/>
        </p:nvSpPr>
        <p:spPr>
          <a:xfrm>
            <a:off x="9656064" y="47000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sensitive fact</a:t>
            </a:r>
            <a:endParaRPr lang="en-US" sz="1150" dirty="0"/>
          </a:p>
        </p:txBody>
      </p:sp>
      <p:sp>
        <p:nvSpPr>
          <p:cNvPr id="68" name="Text 54"/>
          <p:cNvSpPr txBox="1"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BE3BD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Reviewer’s move: don't ask “is this data sensitive?” — ask “does this flow match what the user expected when they shared it?”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DON'T CONFUSE THESE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≠ Security ≠ Compliance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overlap. They are not substitutes. Strong candidates keep all three in view at once.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2331720" cy="2331720"/>
          </a:xfrm>
          <a:prstGeom prst="ellipse">
            <a:avLst/>
          </a:prstGeom>
          <a:solidFill>
            <a:srgbClr val="E39A2D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1828800"/>
            <a:ext cx="2331720" cy="2331720"/>
          </a:xfrm>
          <a:prstGeom prst="ellipse">
            <a:avLst/>
          </a:prstGeom>
          <a:solidFill>
            <a:srgbClr val="D6452A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3108960"/>
            <a:ext cx="2331720" cy="2331720"/>
          </a:xfrm>
          <a:prstGeom prst="ellipse">
            <a:avLst/>
          </a:prstGeom>
          <a:solidFill>
            <a:srgbClr val="2E4A9E">
              <a:alpha val="6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514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965960"/>
            <a:ext cx="201168" cy="201168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57800" y="19110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911096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data be collected, linked, retained, or used?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92040" y="2468880"/>
            <a:ext cx="201168" cy="201168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57800" y="24140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414016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unauthorized people or systems access or alter it?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2971800"/>
            <a:ext cx="201168" cy="20116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7800" y="2916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916936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legal, policy, and contractual obligations met?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THEY COME APART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840480"/>
            <a:ext cx="2128418" cy="1965960"/>
          </a:xfrm>
          <a:prstGeom prst="roundRect">
            <a:avLst>
              <a:gd name="adj" fmla="val 6512"/>
            </a:avLst>
          </a:prstGeom>
          <a:solidFill>
            <a:srgbClr val="F7D5C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74920" y="3977640"/>
            <a:ext cx="1762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not private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526280"/>
            <a:ext cx="1762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encrypted, access-controlled database full of data the product never needed.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03338" y="3840480"/>
            <a:ext cx="2128418" cy="1965960"/>
          </a:xfrm>
          <a:prstGeom prst="roundRect">
            <a:avLst>
              <a:gd name="adj" fmla="val 6512"/>
            </a:avLst>
          </a:prstGeom>
          <a:solidFill>
            <a:srgbClr val="D9E0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86218" y="3977640"/>
            <a:ext cx="1762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Compliant, not trusted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386218" y="4526280"/>
            <a:ext cx="1762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 box was ticked — yet users are shocked by how their data is used.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14637" y="3840480"/>
            <a:ext cx="2128418" cy="1965960"/>
          </a:xfrm>
          <a:prstGeom prst="roundRect">
            <a:avLst>
              <a:gd name="adj" fmla="val 6512"/>
            </a:avLst>
          </a:prstGeom>
          <a:solidFill>
            <a:srgbClr val="FBE3B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7517" y="3977640"/>
            <a:ext cx="1762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not secure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697517" y="4526280"/>
            <a:ext cx="1762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by design — exposed anyway through an unauthenticated debug endpoint.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THE BASICS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privacy security, a law, or a feature?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words describe the same house. Each one answers a different question.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361188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602154" cy="10972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631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2103120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2414016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292608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HOUSE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12724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rooms guests may enter — and why.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4904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 IT ANSWERS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95020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flow, to whom, for what purpose?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3232" y="4663440"/>
            <a:ext cx="2272970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754880"/>
            <a:ext cx="2099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analysis stays on the iPhone.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79394" y="1828800"/>
            <a:ext cx="2602154" cy="361188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79394" y="1828800"/>
            <a:ext cx="2602154" cy="109728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25" name="Shape 22"/>
          <p:cNvSpPr/>
          <p:nvPr/>
        </p:nvSpPr>
        <p:spPr>
          <a:xfrm>
            <a:off x="3607994" y="2103120"/>
            <a:ext cx="640080" cy="64008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14" y="2263140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385234" y="2103120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385234" y="2414016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locks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3607994" y="292608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HOUSE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3607994" y="312724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Doors, alarm, and the safe that keep the decision true.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607994" y="374904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 IT ANSWERS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3607994" y="395020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attacker break the decision?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3543986" y="4663440"/>
            <a:ext cx="2272970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3653714" y="4754880"/>
            <a:ext cx="2099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 · end-to-end encryption.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10148" y="1828800"/>
            <a:ext cx="2602154" cy="361188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210148" y="1828800"/>
            <a:ext cx="2602154" cy="109728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37" name="Shape 33"/>
          <p:cNvSpPr/>
          <p:nvPr/>
        </p:nvSpPr>
        <p:spPr>
          <a:xfrm>
            <a:off x="6438748" y="2103120"/>
            <a:ext cx="640080" cy="64008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2263140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215988" y="2103120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7215988" y="2414016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code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6438748" y="292608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HOUSE</a:t>
            </a:r>
            <a:endParaRPr lang="en-US" sz="850" dirty="0"/>
          </a:p>
        </p:txBody>
      </p:sp>
      <p:sp>
        <p:nvSpPr>
          <p:cNvPr id="42" name="Text 37"/>
          <p:cNvSpPr txBox="1"/>
          <p:nvPr/>
        </p:nvSpPr>
        <p:spPr>
          <a:xfrm>
            <a:off x="6438748" y="312724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every house must meet — with penalties.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6438748" y="374904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 IT ANSWERS</a:t>
            </a:r>
            <a:endParaRPr lang="en-US" sz="850" dirty="0"/>
          </a:p>
        </p:txBody>
      </p:sp>
      <p:sp>
        <p:nvSpPr>
          <p:cNvPr id="44" name="Text 39"/>
          <p:cNvSpPr txBox="1"/>
          <p:nvPr/>
        </p:nvSpPr>
        <p:spPr>
          <a:xfrm>
            <a:off x="6438748" y="395020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we do, at the very least?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6374740" y="4663440"/>
            <a:ext cx="2272970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484468" y="4754880"/>
            <a:ext cx="2099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CCPA — the floor, not the ceiling.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9040901" y="1828800"/>
            <a:ext cx="2602154" cy="361188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040901" y="1828800"/>
            <a:ext cx="2602154" cy="109728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49" name="Shape 44"/>
          <p:cNvSpPr/>
          <p:nvPr/>
        </p:nvSpPr>
        <p:spPr>
          <a:xfrm>
            <a:off x="9269501" y="2103120"/>
            <a:ext cx="640080" cy="64008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521" y="2263140"/>
            <a:ext cx="320040" cy="32004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10046741" y="2103120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10046741" y="2414016"/>
            <a:ext cx="1459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curtains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9269501" y="292608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HOUSE</a:t>
            </a:r>
            <a:endParaRPr lang="en-US" sz="850" dirty="0"/>
          </a:p>
        </p:txBody>
      </p:sp>
      <p:sp>
        <p:nvSpPr>
          <p:cNvPr id="54" name="Text 48"/>
          <p:cNvSpPr txBox="1"/>
          <p:nvPr/>
        </p:nvSpPr>
        <p:spPr>
          <a:xfrm>
            <a:off x="9269501" y="312724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family can see, open, and close themselves.</a:t>
            </a:r>
            <a:endParaRPr lang="en-US" sz="1250" dirty="0"/>
          </a:p>
        </p:txBody>
      </p:sp>
      <p:sp>
        <p:nvSpPr>
          <p:cNvPr id="55" name="Text 49"/>
          <p:cNvSpPr txBox="1"/>
          <p:nvPr/>
        </p:nvSpPr>
        <p:spPr>
          <a:xfrm>
            <a:off x="9269501" y="3749040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 IT ANSWERS</a:t>
            </a:r>
            <a:endParaRPr lang="en-US" sz="850" dirty="0"/>
          </a:p>
        </p:txBody>
      </p:sp>
      <p:sp>
        <p:nvSpPr>
          <p:cNvPr id="56" name="Text 50"/>
          <p:cNvSpPr txBox="1"/>
          <p:nvPr/>
        </p:nvSpPr>
        <p:spPr>
          <a:xfrm>
            <a:off x="9269501" y="3950208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user see it and change it?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9205493" y="4663440"/>
            <a:ext cx="2272970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9315221" y="4754880"/>
            <a:ext cx="2099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My Email · App Privacy Report.</a:t>
            </a:r>
            <a:endParaRPr lang="en-US" sz="1150" dirty="0"/>
          </a:p>
        </p:txBody>
      </p:sp>
      <p:sp>
        <p:nvSpPr>
          <p:cNvPr id="59" name="Text 53"/>
          <p:cNvSpPr txBox="1"/>
          <p:nvPr/>
        </p:nvSpPr>
        <p:spPr>
          <a:xfrm>
            <a:off x="548640" y="557784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1C1B1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ANSWER  </a:t>
            </a:r>
            <a:pPr indent="0" marL="0">
              <a:buNone/>
            </a:pPr>
            <a:r>
              <a:rPr lang="en-US" sz="13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the goal. Security keeps it. Law sets the minimum. A feature puts it in the user’s hands. You can have security without privacy — a perfectly locked database of everything about everyone — but never privacy without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THE WINDSHIELD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windshield: privacy decides what a break can do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stops every stone. A good one keeps the glass out of the passengers’ laps.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029200" cy="1783080"/>
          </a:xfrm>
          <a:prstGeom prst="trapezoid">
            <a:avLst/>
          </a:prstGeom>
          <a:solidFill>
            <a:srgbClr val="D3E6EE"/>
          </a:solidFill>
          <a:ln w="25400">
            <a:solidFill>
              <a:srgbClr val="8FB3C4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2148840"/>
            <a:ext cx="914400" cy="41148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3017520" y="2560320"/>
            <a:ext cx="731520" cy="50292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560320"/>
            <a:ext cx="91440" cy="82296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560320"/>
            <a:ext cx="822960" cy="45720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749040" y="2194560"/>
            <a:ext cx="914400" cy="36576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3749040" y="2011680"/>
            <a:ext cx="274320" cy="54864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429000" y="2560320"/>
            <a:ext cx="320040" cy="868680"/>
          </a:xfrm>
          <a:prstGeom prst="line">
            <a:avLst/>
          </a:prstGeom>
          <a:noFill/>
          <a:ln w="15875">
            <a:solidFill>
              <a:srgbClr val="5E7F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2441448"/>
            <a:ext cx="237744" cy="237744"/>
          </a:xfrm>
          <a:prstGeom prst="ellipse">
            <a:avLst/>
          </a:prstGeom>
          <a:solidFill>
            <a:srgbClr val="6B635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913632" y="2176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— but still in one piece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40480"/>
            <a:ext cx="5029200" cy="530352"/>
          </a:xfrm>
          <a:prstGeom prst="rect">
            <a:avLst/>
          </a:prstGeom>
          <a:solidFill>
            <a:srgbClr val="D3E6EE"/>
          </a:solidFill>
          <a:ln w="12700">
            <a:solidFill>
              <a:srgbClr val="8FB3C4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GLASS  =  </a:t>
            </a:r>
            <a:pPr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most stones before they get through.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43984"/>
            <a:ext cx="5029200" cy="530352"/>
          </a:xfrm>
          <a:prstGeom prst="rect">
            <a:avLst/>
          </a:prstGeom>
          <a:solidFill>
            <a:srgbClr val="E39A2D"/>
          </a:solidFill>
          <a:ln w="12700">
            <a:solidFill>
              <a:srgbClr val="8FB3C4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PLASTIC INTERLAYER  =  </a:t>
            </a:r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pieces together when it does crack.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47488"/>
            <a:ext cx="5029200" cy="530352"/>
          </a:xfrm>
          <a:prstGeom prst="rect">
            <a:avLst/>
          </a:prstGeom>
          <a:solidFill>
            <a:srgbClr val="D3E6EE"/>
          </a:solidFill>
          <a:ln w="12700">
            <a:solidFill>
              <a:srgbClr val="8FB3C4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GLASS  =  </a:t>
            </a:r>
            <a:pPr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 &amp; CONTROLS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the passenger actually touches.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828800"/>
            <a:ext cx="5653735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172200" y="1920240"/>
            <a:ext cx="5287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STONE CHIP · A SMALL INCIDENT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139696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writes phone numbers into a debug log.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243230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D2E8E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45059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PRIVACY BY DESIGN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kept 7 days, access-restricted, numbers truncated. You repair the chip.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61908" y="243230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F7D5C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53348" y="245059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IT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kept forever, copied into analytics. The crack spreads.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154680"/>
            <a:ext cx="5653735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172200" y="3246120"/>
            <a:ext cx="5287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ACCIDENT · A MAJOR BREACH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465576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steals the whole message database.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72200" y="375818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D2E8E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377647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PRIVACY BY DESIGN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end-to-end encrypted, few fields, short retention. They get ciphertext.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61908" y="375818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F7D5C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53348" y="377647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IT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profiles going back years. Glass in everyone’s lap.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9320" y="4480560"/>
            <a:ext cx="5653735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172200" y="4572000"/>
            <a:ext cx="5287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WINDOW · THE OTHER STRATEGY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4791456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glass shatters into small, blunt cubes on purpose.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72200" y="508406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D2E8E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63640" y="510235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PRIVACY BY DESIGN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and coarse data: when it breaks, nothing is sharp enough to cut.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61908" y="5084064"/>
            <a:ext cx="2598268" cy="548640"/>
          </a:xfrm>
          <a:prstGeom prst="roundRect">
            <a:avLst>
              <a:gd name="adj" fmla="val 10000"/>
            </a:avLst>
          </a:prstGeom>
          <a:solidFill>
            <a:srgbClr val="F7D5C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953348" y="5102352"/>
            <a:ext cx="24153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IT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Row-level, precise data: every shard can identify someone.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70448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privacy prevent the leak? Not always — stopping the stone is security’s job. Privacy decides how much the break can hurt.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MINIMUM &amp; MAXIMUM DAMAGE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breach budget: decide the worst case in advance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promise zero. You can decide, before launch, the most a failure could ever cost.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 =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828800"/>
            <a:ext cx="2099234" cy="566928"/>
          </a:xfrm>
          <a:prstGeom prst="roundRect">
            <a:avLst>
              <a:gd name="adj" fmla="val 19355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COLLECTED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0914" y="18288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22394" y="1828800"/>
            <a:ext cx="2099234" cy="566928"/>
          </a:xfrm>
          <a:prstGeom prst="roundRect">
            <a:avLst>
              <a:gd name="adj" fmla="val 19355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LONG YOU KEPT 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21628" y="18288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033108" y="1828800"/>
            <a:ext cx="2099234" cy="566928"/>
          </a:xfrm>
          <a:prstGeom prst="roundRect">
            <a:avLst>
              <a:gd name="adj" fmla="val 19355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IDENTIFIABLE IT IS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32341" y="18288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543821" y="1828800"/>
            <a:ext cx="2099234" cy="566928"/>
          </a:xfrm>
          <a:prstGeom prst="roundRect">
            <a:avLst>
              <a:gd name="adj" fmla="val 19355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HOLDS THE KEY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0604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EVENT, FIVE DESIGNS — “SOMEONE STEALS THE MESSAGE SERVER”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2072579" cy="251460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295644" cy="20116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2884" y="3291840"/>
            <a:ext cx="295644" cy="20116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4" name="Shape 22"/>
          <p:cNvSpPr/>
          <p:nvPr/>
        </p:nvSpPr>
        <p:spPr>
          <a:xfrm>
            <a:off x="1414248" y="3291840"/>
            <a:ext cx="295644" cy="20116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755611" y="3291840"/>
            <a:ext cx="295644" cy="20116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6" name="Shape 24"/>
          <p:cNvSpPr/>
          <p:nvPr/>
        </p:nvSpPr>
        <p:spPr>
          <a:xfrm>
            <a:off x="2096975" y="3291840"/>
            <a:ext cx="295644" cy="20116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36118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Plaintext, kept forever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206240"/>
            <a:ext cx="17068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name, and contact — going back years.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804099" y="2926080"/>
            <a:ext cx="2072579" cy="251460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2986979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86979" y="3291840"/>
            <a:ext cx="295644" cy="201168"/>
          </a:xfrm>
          <a:prstGeom prst="rect">
            <a:avLst/>
          </a:prstGeom>
          <a:solidFill>
            <a:srgbClr val="E0662F"/>
          </a:solidFill>
          <a:ln/>
        </p:spPr>
      </p:sp>
      <p:sp>
        <p:nvSpPr>
          <p:cNvPr id="32" name="Shape 30"/>
          <p:cNvSpPr/>
          <p:nvPr/>
        </p:nvSpPr>
        <p:spPr>
          <a:xfrm>
            <a:off x="3328343" y="3291840"/>
            <a:ext cx="295644" cy="201168"/>
          </a:xfrm>
          <a:prstGeom prst="rect">
            <a:avLst/>
          </a:prstGeom>
          <a:solidFill>
            <a:srgbClr val="E0662F"/>
          </a:solidFill>
          <a:ln/>
        </p:spPr>
      </p:sp>
      <p:sp>
        <p:nvSpPr>
          <p:cNvPr id="33" name="Shape 31"/>
          <p:cNvSpPr/>
          <p:nvPr/>
        </p:nvSpPr>
        <p:spPr>
          <a:xfrm>
            <a:off x="3669707" y="3291840"/>
            <a:ext cx="295644" cy="201168"/>
          </a:xfrm>
          <a:prstGeom prst="rect">
            <a:avLst/>
          </a:prstGeom>
          <a:solidFill>
            <a:srgbClr val="E0662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11070" y="3291840"/>
            <a:ext cx="295644" cy="201168"/>
          </a:xfrm>
          <a:prstGeom prst="rect">
            <a:avLst/>
          </a:prstGeom>
          <a:solidFill>
            <a:srgbClr val="E0662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434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86979" y="36118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company keys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986979" y="4206240"/>
            <a:ext cx="17068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disk is useless. An insider or a key thief gets everything.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59558" y="2926080"/>
            <a:ext cx="2072579" cy="251460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242438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42438" y="3291840"/>
            <a:ext cx="295644" cy="20116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41" name="Shape 39"/>
          <p:cNvSpPr/>
          <p:nvPr/>
        </p:nvSpPr>
        <p:spPr>
          <a:xfrm>
            <a:off x="5583802" y="3291840"/>
            <a:ext cx="295644" cy="20116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42" name="Shape 40"/>
          <p:cNvSpPr/>
          <p:nvPr/>
        </p:nvSpPr>
        <p:spPr>
          <a:xfrm>
            <a:off x="5925166" y="3291840"/>
            <a:ext cx="295644" cy="20116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6530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44" name="Shape 42"/>
          <p:cNvSpPr/>
          <p:nvPr/>
        </p:nvSpPr>
        <p:spPr>
          <a:xfrm>
            <a:off x="6607893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242438" y="36118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3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Minimized, short retention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242438" y="4206240"/>
            <a:ext cx="17068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30 days, only the fields that were needed.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315017" y="2926080"/>
            <a:ext cx="2072579" cy="251460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7497897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97897" y="3291840"/>
            <a:ext cx="295644" cy="201168"/>
          </a:xfrm>
          <a:prstGeom prst="rect">
            <a:avLst/>
          </a:prstGeom>
          <a:solidFill>
            <a:srgbClr val="5E9A6B"/>
          </a:solidFill>
          <a:ln/>
        </p:spPr>
      </p:sp>
      <p:sp>
        <p:nvSpPr>
          <p:cNvPr id="50" name="Shape 48"/>
          <p:cNvSpPr/>
          <p:nvPr/>
        </p:nvSpPr>
        <p:spPr>
          <a:xfrm>
            <a:off x="7839261" y="3291840"/>
            <a:ext cx="295644" cy="201168"/>
          </a:xfrm>
          <a:prstGeom prst="rect">
            <a:avLst/>
          </a:prstGeom>
          <a:solidFill>
            <a:srgbClr val="5E9A6B"/>
          </a:solidFill>
          <a:ln/>
        </p:spPr>
      </p:sp>
      <p:sp>
        <p:nvSpPr>
          <p:cNvPr id="51" name="Shape 49"/>
          <p:cNvSpPr/>
          <p:nvPr/>
        </p:nvSpPr>
        <p:spPr>
          <a:xfrm>
            <a:off x="8180625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2" name="Shape 50"/>
          <p:cNvSpPr/>
          <p:nvPr/>
        </p:nvSpPr>
        <p:spPr>
          <a:xfrm>
            <a:off x="8521989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3" name="Shape 51"/>
          <p:cNvSpPr/>
          <p:nvPr/>
        </p:nvSpPr>
        <p:spPr>
          <a:xfrm>
            <a:off x="8863352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497897" y="36118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7497897" y="4206240"/>
            <a:ext cx="17068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only. Who talked to whom, and when, may still show.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570476" y="2926080"/>
            <a:ext cx="2072579" cy="251460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9753356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753356" y="3291840"/>
            <a:ext cx="295644" cy="201168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94720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36084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61" name="Shape 59"/>
          <p:cNvSpPr/>
          <p:nvPr/>
        </p:nvSpPr>
        <p:spPr>
          <a:xfrm>
            <a:off x="10777448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18811" y="3291840"/>
            <a:ext cx="295644" cy="201168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753356" y="36118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collected — on device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9753356" y="4206240"/>
            <a:ext cx="17068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the server to steal.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MAXIMUM DAMAGE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8899855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 DAMAGE ▶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5788152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1C1B1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FLOOR  </a:t>
            </a:r>
            <a:pPr indent="0" marL="0">
              <a:buNone/>
            </a:pPr>
            <a:r>
              <a:rPr lang="en-US" sz="13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design leaves something: metadata, the unlocked phone in your hand, and the person you sent it 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Analogy mapping is simplified; see the iCloud and device slides in Level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THE WEAKEST DOOR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expensive safe behind a hackable front door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chain. Privacy asks the sharper question: what did you leave outside the safe?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4206240" cy="960120"/>
          </a:xfrm>
          <a:prstGeom prst="triangle">
            <a:avLst/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88920"/>
            <a:ext cx="3931920" cy="3429000"/>
          </a:xfrm>
          <a:prstGeom prst="rect">
            <a:avLst/>
          </a:prstGeom>
          <a:solidFill>
            <a:srgbClr val="FFFDF8"/>
          </a:solidFill>
          <a:ln w="19050">
            <a:solidFill>
              <a:srgbClr val="D6CBB8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297680"/>
            <a:ext cx="914400" cy="1920240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5230368"/>
            <a:ext cx="91440" cy="91440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7008" y="461772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D645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469087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6868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LOCK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54680" y="315468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340156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15468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286000" y="320040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1234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331720" y="5532120"/>
            <a:ext cx="2011680" cy="91440"/>
          </a:xfrm>
          <a:prstGeom prst="rect">
            <a:avLst/>
          </a:prstGeom>
          <a:solidFill>
            <a:srgbClr val="6B6358"/>
          </a:solidFill>
          <a:ln/>
        </p:spPr>
      </p:sp>
      <p:sp>
        <p:nvSpPr>
          <p:cNvPr id="23" name="Shape 19"/>
          <p:cNvSpPr/>
          <p:nvPr/>
        </p:nvSpPr>
        <p:spPr>
          <a:xfrm>
            <a:off x="2468880" y="5623560"/>
            <a:ext cx="73152" cy="594360"/>
          </a:xfrm>
          <a:prstGeom prst="rect">
            <a:avLst/>
          </a:prstGeom>
          <a:solidFill>
            <a:srgbClr val="6B6358"/>
          </a:solidFill>
          <a:ln/>
        </p:spPr>
      </p:sp>
      <p:sp>
        <p:nvSpPr>
          <p:cNvPr id="24" name="Shape 20"/>
          <p:cNvSpPr/>
          <p:nvPr/>
        </p:nvSpPr>
        <p:spPr>
          <a:xfrm>
            <a:off x="4133088" y="5623560"/>
            <a:ext cx="73152" cy="594360"/>
          </a:xfrm>
          <a:prstGeom prst="rect">
            <a:avLst/>
          </a:prstGeom>
          <a:solidFill>
            <a:srgbClr val="6B635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5074920"/>
            <a:ext cx="411480" cy="411480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5074920"/>
            <a:ext cx="384048" cy="384048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507492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33172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TABLE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4983480" y="1828800"/>
            <a:ext cx="1737360" cy="758952"/>
          </a:xfrm>
          <a:prstGeom prst="roundRect">
            <a:avLst>
              <a:gd name="adj" fmla="val 14458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DOOR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812280" y="1828800"/>
            <a:ext cx="4830775" cy="758952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949440" y="1874520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Apple Account password, device passcode, and the SIM that receives SMS codes.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949440" y="226771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it and the thief is inside the house.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4983480" y="2679192"/>
            <a:ext cx="1737360" cy="758952"/>
          </a:xfrm>
          <a:prstGeom prst="roundRect">
            <a:avLst>
              <a:gd name="adj" fmla="val 14458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SAFE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812280" y="2679192"/>
            <a:ext cx="4830775" cy="758952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949440" y="2724912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 plus end-to-end encrypted data: Keychain, Health, Messages.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49440" y="311810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shut. It needs a key only your devices hold.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4983480" y="3529584"/>
            <a:ext cx="1737360" cy="758952"/>
          </a:xfrm>
          <a:prstGeom prst="roundRect">
            <a:avLst>
              <a:gd name="adj" fmla="val 14458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TABLE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812280" y="3529584"/>
            <a:ext cx="4830775" cy="758952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949440" y="3575304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isn’t end-to-end encrypted — by default, iCloud Photos, Drive, Notes, backups.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949440" y="3968496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anyone who gets through the door.</a:t>
            </a:r>
            <a:endParaRPr lang="en-US" sz="1150" dirty="0"/>
          </a:p>
        </p:txBody>
      </p:sp>
      <p:sp>
        <p:nvSpPr>
          <p:cNvPr id="41" name="Text 34"/>
          <p:cNvSpPr txBox="1"/>
          <p:nvPr/>
        </p:nvSpPr>
        <p:spPr>
          <a:xfrm>
            <a:off x="4983480" y="4379976"/>
            <a:ext cx="1737360" cy="758952"/>
          </a:xfrm>
          <a:prstGeom prst="roundRect">
            <a:avLst>
              <a:gd name="adj" fmla="val 14458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ON THE FRIDGE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812280" y="4379976"/>
            <a:ext cx="4830775" cy="758952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949440" y="4425696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 key saved in Notes; a passcode someone watched you type.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6949440" y="4818888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3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is only as strong as where you keep its code.</a:t>
            </a:r>
            <a:endParaRPr 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4983480" y="528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♪ APPLE’S ANSWERS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4983480" y="5541264"/>
            <a:ext cx="2128418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Device Protection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3A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watched passcode alone can’t take your account.</a:t>
            </a:r>
            <a:endParaRPr 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7249058" y="5541264"/>
            <a:ext cx="2128418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keys &amp; passkeys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3A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 door that can’t be phished.</a:t>
            </a:r>
            <a:endParaRPr lang="en-US" sz="1150" dirty="0"/>
          </a:p>
        </p:txBody>
      </p:sp>
      <p:sp>
        <p:nvSpPr>
          <p:cNvPr id="48" name="Text 41"/>
          <p:cNvSpPr txBox="1"/>
          <p:nvPr/>
        </p:nvSpPr>
        <p:spPr>
          <a:xfrm>
            <a:off x="9514637" y="5541264"/>
            <a:ext cx="2128418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Protection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3A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table into the safe.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Support — Messages (unsend &amp; edit, Recently Deleted), Erase iPhone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YOUR iPHONE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Delete, unsend, remove the app, wipe the phone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buttons that feel the same. They reach very different copies of your message.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44348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602154" cy="10972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566928" cy="56692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44852"/>
            <a:ext cx="283464" cy="2834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44752" y="210312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2916936"/>
            <a:ext cx="100584" cy="100584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2834640"/>
            <a:ext cx="20077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from the conversation. With Messages in iCloud on, the delete syncs to your iPad and Mac too.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" y="3886200"/>
            <a:ext cx="100584" cy="100584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" y="3803904"/>
            <a:ext cx="2007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in Recently Deleted for up to 30 days, then it’s gone for good.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4617720"/>
            <a:ext cx="100584" cy="100584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60120" y="4535424"/>
            <a:ext cx="20077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recipient’s copy is untouched.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" y="5440680"/>
            <a:ext cx="2327834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95528" y="5513832"/>
            <a:ext cx="214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everywhere you’re signed in — not on their phone.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79394" y="1828800"/>
            <a:ext cx="2602154" cy="44348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79394" y="1828800"/>
            <a:ext cx="2602154" cy="109728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26" name="Shape 23"/>
          <p:cNvSpPr/>
          <p:nvPr/>
        </p:nvSpPr>
        <p:spPr>
          <a:xfrm>
            <a:off x="3580562" y="2103120"/>
            <a:ext cx="566928" cy="56692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294" y="2244852"/>
            <a:ext cx="283464" cy="28346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275506" y="210312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UNSEND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607994" y="2916936"/>
            <a:ext cx="100584" cy="100584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790874" y="2834640"/>
            <a:ext cx="20077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iMessage, and only within 2 minutes. It disappears from their device too; both see “You unsent a message.”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607994" y="3886200"/>
            <a:ext cx="100584" cy="100584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790874" y="3803904"/>
            <a:ext cx="20077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older software, they may still see it.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3607994" y="4398264"/>
            <a:ext cx="100584" cy="100584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3790874" y="4315968"/>
            <a:ext cx="2007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they already read, screenshotted, or saw in a notification stays with them.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3516554" y="5440680"/>
            <a:ext cx="2327834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3626282" y="5513832"/>
            <a:ext cx="214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Send pulls it back — if you’re quick and they’re current.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210148" y="1828800"/>
            <a:ext cx="2602154" cy="44348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210148" y="1828800"/>
            <a:ext cx="2602154" cy="109728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39" name="Shape 35"/>
          <p:cNvSpPr/>
          <p:nvPr/>
        </p:nvSpPr>
        <p:spPr>
          <a:xfrm>
            <a:off x="6411316" y="2103120"/>
            <a:ext cx="566928" cy="56692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44852"/>
            <a:ext cx="283464" cy="283464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106260" y="210312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THE APP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438748" y="2916936"/>
            <a:ext cx="100584" cy="100584"/>
          </a:xfrm>
          <a:prstGeom prst="ellipse">
            <a:avLst/>
          </a:prstGeom>
          <a:solidFill>
            <a:srgbClr val="7A3B69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621628" y="2834640"/>
            <a:ext cx="20077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is built into iOS — you can’t delete it. Turning off iMessage or signing out leaves your history on the phone and in iCloud.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438748" y="3886200"/>
            <a:ext cx="100584" cy="100584"/>
          </a:xfrm>
          <a:prstGeom prst="ellipse">
            <a:avLst/>
          </a:prstGeom>
          <a:solidFill>
            <a:srgbClr val="7A3B69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621628" y="3803904"/>
            <a:ext cx="2007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for every app: deleting it clears the device, not the company’s cloud.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6347308" y="5440680"/>
            <a:ext cx="2327834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457036" y="5513832"/>
            <a:ext cx="214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app is not deleting the data.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9040901" y="1828800"/>
            <a:ext cx="2602154" cy="44348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9040901" y="1828800"/>
            <a:ext cx="2602154" cy="10972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50" name="Shape 45"/>
          <p:cNvSpPr/>
          <p:nvPr/>
        </p:nvSpPr>
        <p:spPr>
          <a:xfrm>
            <a:off x="9242069" y="2103120"/>
            <a:ext cx="566928" cy="56692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2244852"/>
            <a:ext cx="283464" cy="283464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9937013" y="210312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WIPE THE PHONE</a:t>
            </a:r>
            <a:endParaRPr lang="en-US" sz="1300" dirty="0"/>
          </a:p>
        </p:txBody>
      </p:sp>
      <p:sp>
        <p:nvSpPr>
          <p:cNvPr id="53" name="Shape 47"/>
          <p:cNvSpPr/>
          <p:nvPr/>
        </p:nvSpPr>
        <p:spPr>
          <a:xfrm>
            <a:off x="9269501" y="2916936"/>
            <a:ext cx="100584" cy="100584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9452381" y="2834640"/>
            <a:ext cx="20077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All Content and Settings destroys the encryption keys, so everything on that iPhone is unreadable at once.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9269501" y="3886200"/>
            <a:ext cx="100584" cy="100584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452381" y="3803904"/>
            <a:ext cx="20077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iCloud copy, your Mac, and the recipient keep theirs. Restore from a backup and it all comes back.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9178061" y="5440680"/>
            <a:ext cx="2327834" cy="713232"/>
          </a:xfrm>
          <a:prstGeom prst="roundRect">
            <a:avLst>
              <a:gd name="adj" fmla="val 10256"/>
            </a:avLst>
          </a:prstGeom>
          <a:solidFill>
            <a:srgbClr val="D9E0F4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9287789" y="5513832"/>
            <a:ext cx="214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key, and the data is gone — on that device.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Assumes Messages in iCloud is on. *Key sits in iCloud Backup unless Advanced Data Protection is on (p. 75)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REAL LIFE · THE COPIES MAP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message still live?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local. Copies are distributed. A privacy engineer’s first question is always: where are all the copies?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1810512"/>
            <a:ext cx="133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iPHONE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851910" y="1810512"/>
            <a:ext cx="133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MAC &amp; iPAD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280660" y="1810512"/>
            <a:ext cx="133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iCLOUD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709410" y="1810512"/>
            <a:ext cx="133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THEIR DEVICES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103120"/>
            <a:ext cx="1783080" cy="694944"/>
          </a:xfrm>
          <a:prstGeom prst="roundRect">
            <a:avLst>
              <a:gd name="adj" fmla="val 15789"/>
            </a:avLst>
          </a:prstGeom>
          <a:solidFill>
            <a:srgbClr val="E39A2D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23160" y="2103120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BED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14600" y="2103120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after 30 days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51910" y="2103120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43350" y="2103120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delete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80660" y="2103120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72100" y="2103120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delete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09410" y="2103120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00850" y="2103120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89504"/>
            <a:ext cx="1783080" cy="694944"/>
          </a:xfrm>
          <a:prstGeom prst="roundRect">
            <a:avLst>
              <a:gd name="adj" fmla="val 15789"/>
            </a:avLst>
          </a:prstGeom>
          <a:solidFill>
            <a:srgbClr val="1E6B63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423160" y="2889504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14600" y="2889504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1910" y="2889504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43350" y="2889504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80660" y="2889504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72100" y="2889504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09410" y="2889504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BEDB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00850" y="2889504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current &amp; within 2 min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75888"/>
            <a:ext cx="1783080" cy="694944"/>
          </a:xfrm>
          <a:prstGeom prst="roundRect">
            <a:avLst>
              <a:gd name="adj" fmla="val 15789"/>
            </a:avLst>
          </a:prstGeom>
          <a:solidFill>
            <a:srgbClr val="7A3B6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app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423160" y="3675888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514600" y="3675888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stays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851910" y="3675888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943350" y="3675888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80660" y="3675888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372100" y="3675888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09410" y="3675888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00850" y="3675888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462272"/>
            <a:ext cx="1783080" cy="694944"/>
          </a:xfrm>
          <a:prstGeom prst="roundRect">
            <a:avLst>
              <a:gd name="adj" fmla="val 15789"/>
            </a:avLst>
          </a:prstGeom>
          <a:solidFill>
            <a:srgbClr val="D6452A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Wipe iPhone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2423160" y="4462272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D2E8E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14600" y="4462272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destroyed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851910" y="4462272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943350" y="4462272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280660" y="4462272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372100" y="4462272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it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709410" y="4462272"/>
            <a:ext cx="1337310" cy="694944"/>
          </a:xfrm>
          <a:prstGeom prst="roundRect">
            <a:avLst>
              <a:gd name="adj" fmla="val 10526"/>
            </a:avLst>
          </a:prstGeom>
          <a:solidFill>
            <a:srgbClr val="F7D5C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800850" y="4462272"/>
            <a:ext cx="11544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303520"/>
            <a:ext cx="7498080" cy="566928"/>
          </a:xfrm>
          <a:prstGeom prst="roundRect">
            <a:avLst>
              <a:gd name="adj" fmla="val 16129"/>
            </a:avLst>
          </a:prstGeom>
          <a:solidFill>
            <a:srgbClr val="1C1B1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BUTTON REACHES  </a:t>
            </a:r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forwards · notifications already seen · an old iCloud Backup* · the other person’s memory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9618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2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is end-to-end encrypted — wherever the copies live, Apple can’t read them.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321040" y="1828800"/>
            <a:ext cx="3322015" cy="4434840"/>
          </a:xfrm>
          <a:prstGeom prst="roundRect">
            <a:avLst>
              <a:gd name="adj" fmla="val 385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8549640" y="1965960"/>
            <a:ext cx="2864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ENGINEER’S VERSION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549640" y="2331720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8549640" y="2596896"/>
            <a:ext cx="2864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with a recovery window, then purge.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549640" y="3118104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Unsend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8549640" y="3383280"/>
            <a:ext cx="2864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recall request to other parties — best effort, never a guarantee.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549640" y="3904488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app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8549640" y="4169664"/>
            <a:ext cx="2864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Uninstalling the client never deletes the server copy.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549640" y="4690872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</a:t>
            </a:r>
            <a:endParaRPr lang="en-US" sz="1350" dirty="0"/>
          </a:p>
        </p:txBody>
      </p:sp>
      <p:sp>
        <p:nvSpPr>
          <p:cNvPr id="62" name="Text 60"/>
          <p:cNvSpPr txBox="1"/>
          <p:nvPr/>
        </p:nvSpPr>
        <p:spPr>
          <a:xfrm>
            <a:off x="8549640" y="4956048"/>
            <a:ext cx="2864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Crypto-shredding: destroy the key, not every byte.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8503920" y="5605272"/>
            <a:ext cx="2956255" cy="457200"/>
          </a:xfrm>
          <a:prstGeom prst="roundRect">
            <a:avLst>
              <a:gd name="adj" fmla="val 24000"/>
            </a:avLst>
          </a:prstGeom>
          <a:solidFill>
            <a:srgbClr val="FBE3B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fan-out in a real system → p. 30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39A2D"/>
          </a:solidFill>
          <a:ln w="12700">
            <a:solidFill>
              <a:srgbClr val="E39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reporting: NYT (2006, 2012) · Narayanan &amp; Shmatikov (2008) · Guardian / NYT (2018)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CASE FILES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failures every privacy engineer should know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broke a different assumption. Learn the assumption, not just the headline.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057949" cy="406908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05740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87752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AOL search logs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971800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82112"/>
            <a:ext cx="16921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“anonymized” search logs keyed by user number. Reporters identified a real person from her queries alone.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663440"/>
            <a:ext cx="1838493" cy="1143000"/>
          </a:xfrm>
          <a:prstGeom prst="roundRect">
            <a:avLst>
              <a:gd name="adj" fmla="val 8000"/>
            </a:avLst>
          </a:prstGeom>
          <a:solidFill>
            <a:srgbClr val="D6452A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36592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ASSUMPTION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56048"/>
            <a:ext cx="164646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“Removing names makes data anonymous.”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07757" y="1874520"/>
            <a:ext cx="2057949" cy="406908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990637" y="205740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2006–08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2990637" y="2587752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990637" y="2971800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990637" y="3182112"/>
            <a:ext cx="16921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re-identified subscribers by matching “anonymous” movie ratings against public IMDb reviews.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17485" y="4663440"/>
            <a:ext cx="1838493" cy="1143000"/>
          </a:xfrm>
          <a:prstGeom prst="roundRect">
            <a:avLst>
              <a:gd name="adj" fmla="val 8000"/>
            </a:avLst>
          </a:prstGeom>
          <a:solidFill>
            <a:srgbClr val="E39A2D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36357" y="4736592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ASSUMPTION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036357" y="4956048"/>
            <a:ext cx="164646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nobody else has is safe to publish.”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66873" y="1874520"/>
            <a:ext cx="2057949" cy="406908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249753" y="205740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249753" y="2587752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inference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49753" y="2971800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49753" y="3182112"/>
            <a:ext cx="16921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retailer’s purchase model predicted pregnancy — reportedly before a customer’s family knew.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76601" y="4663440"/>
            <a:ext cx="1838493" cy="1143000"/>
          </a:xfrm>
          <a:prstGeom prst="roundRect">
            <a:avLst>
              <a:gd name="adj" fmla="val 8000"/>
            </a:avLst>
          </a:prstGeom>
          <a:solidFill>
            <a:srgbClr val="1E6B63">
              <a:alpha val="18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295473" y="4736592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ASSUMPTION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295473" y="4956048"/>
            <a:ext cx="164646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use what customers gave us.”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25990" y="1874520"/>
            <a:ext cx="2057949" cy="406908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508870" y="205740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7508870" y="2587752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heatmap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508870" y="2971800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508870" y="3182112"/>
            <a:ext cx="16921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activity heatmap outlined the layout of sensitive military sites around the world.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35718" y="4663440"/>
            <a:ext cx="1838493" cy="1143000"/>
          </a:xfrm>
          <a:prstGeom prst="roundRect">
            <a:avLst>
              <a:gd name="adj" fmla="val 8000"/>
            </a:avLst>
          </a:prstGeom>
          <a:solidFill>
            <a:srgbClr val="2E4A9E">
              <a:alpha val="1800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54590" y="4736592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ASSUMPTION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54590" y="4956048"/>
            <a:ext cx="164646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“Aggregates can't reveal anything sensitive.”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85107" y="1874520"/>
            <a:ext cx="2057949" cy="406908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767987" y="205740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800" dirty="0"/>
          </a:p>
        </p:txBody>
      </p:sp>
      <p:sp>
        <p:nvSpPr>
          <p:cNvPr id="45" name="Text 43"/>
          <p:cNvSpPr txBox="1"/>
          <p:nvPr/>
        </p:nvSpPr>
        <p:spPr>
          <a:xfrm>
            <a:off x="9767987" y="2587752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767987" y="2971800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767987" y="3182112"/>
            <a:ext cx="16921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quiz app used friend permissions to harvest data on tens of millions who never used it.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4835" y="4663440"/>
            <a:ext cx="1838493" cy="1143000"/>
          </a:xfrm>
          <a:prstGeom prst="roundRect">
            <a:avLst>
              <a:gd name="adj" fmla="val 8000"/>
            </a:avLst>
          </a:prstGeom>
          <a:solidFill>
            <a:srgbClr val="7A3B69">
              <a:alpha val="18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813707" y="4736592"/>
            <a:ext cx="1692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ASSUMPTION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813707" y="4956048"/>
            <a:ext cx="164646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user's consent covers their friends.”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 rot="360000">
            <a:off x="9966960" y="1234440"/>
            <a:ext cx="1463040" cy="384048"/>
          </a:xfrm>
          <a:prstGeom prst="roundRect">
            <a:avLst>
              <a:gd name="adj" fmla="val 14286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6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-182880"/>
            <a:ext cx="512064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0" b="1" dirty="0">
                <a:solidFill>
                  <a:srgbClr val="185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 · FOUNDATIONS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foundations.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see data, identity, purpose, time, and harm — before reaching for any privacy technology.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LEVEL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92808" y="4709160"/>
            <a:ext cx="188823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QUASI-IDENTIFIERS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09060" y="47091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4709160"/>
            <a:ext cx="112014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97396" y="4709160"/>
            <a:ext cx="73609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66360"/>
            <a:ext cx="188823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64892" y="5166360"/>
            <a:ext cx="54406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36976" y="5166360"/>
            <a:ext cx="83210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97096" y="51663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37276" y="51663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23560"/>
            <a:ext cx="112014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96796" y="56235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WHAT COUNTS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data is bigger than names and emails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anything that can identify, describe, locate, infer, or link a person.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130552"/>
            <a:ext cx="658368" cy="65836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95144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21031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3774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phone · account ID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29260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person on its own.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38218" y="18745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6818" y="2130552"/>
            <a:ext cx="658368" cy="65836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10" y="229514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389778" y="21031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389778" y="23774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device IDs · cookies · ad IDs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389778" y="29260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person across apps and sites.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27797" y="18745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56397" y="2130552"/>
            <a:ext cx="658368" cy="65836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989" y="2295144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179357" y="21031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179357" y="23774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· searches · views · dwell time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179357" y="29260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interests and intent.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548640" y="37033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3959352"/>
            <a:ext cx="658368" cy="65836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123944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600200" y="39319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600200" y="42062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Wi-Fi · IP-geo · check-ins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600200" y="47548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points reveals home and work.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4338218" y="37033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66818" y="3959352"/>
            <a:ext cx="658368" cy="65836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410" y="4123944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389778" y="39319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5389778" y="42062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· payments · balances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5389778" y="47548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 many places; high fraud value.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8127797" y="3703320"/>
            <a:ext cx="3515258" cy="1600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356397" y="3959352"/>
            <a:ext cx="658368" cy="65836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989" y="4123944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179357" y="3931920"/>
            <a:ext cx="2280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INFERRED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9179357" y="4206240"/>
            <a:ext cx="2280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· risk scores · segments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9179357" y="4754880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created it — you still own the risk.</a:t>
            </a:r>
            <a:endParaRPr lang="en-US" sz="125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D2E8E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rule: data that looks harmless alone can become sensitive once it is linked.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 Sweeney, “Simple Demographics Often Identify People Uniquely,” CMU (2000), using 1990 U.S. Census data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QUASI-IDENTIFIERS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boring fields can name you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Quasi-identifiers are harmless alone and identifying together. They are why “we removed the names” fails.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4114800" cy="4160520"/>
          </a:xfrm>
          <a:prstGeom prst="roundRect">
            <a:avLst>
              <a:gd name="adj" fmla="val 3111"/>
            </a:avLst>
          </a:prstGeom>
          <a:solidFill>
            <a:srgbClr val="1E6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11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U.S. population was likely uniquely identifiable by just these three fields.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92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2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Latanya Sweeney, 2000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1874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98424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98348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5-digit ZIP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6858000" y="1874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198424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580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321040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23" name="Shape 19"/>
          <p:cNvSpPr/>
          <p:nvPr/>
        </p:nvSpPr>
        <p:spPr>
          <a:xfrm>
            <a:off x="8732520" y="1874520"/>
            <a:ext cx="1463040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198424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7325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10195560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400" dirty="0"/>
          </a:p>
        </p:txBody>
      </p:sp>
      <p:sp>
        <p:nvSpPr>
          <p:cNvPr id="27" name="Shape 22"/>
          <p:cNvSpPr/>
          <p:nvPr/>
        </p:nvSpPr>
        <p:spPr>
          <a:xfrm>
            <a:off x="10607040" y="1828800"/>
            <a:ext cx="1005840" cy="10058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208026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332720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PERSON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983480" y="3337560"/>
            <a:ext cx="6659575" cy="1005840"/>
          </a:xfrm>
          <a:prstGeom prst="roundRect">
            <a:avLst>
              <a:gd name="adj" fmla="val 1272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525780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257800" y="3703320"/>
            <a:ext cx="6110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dataset with these columns can be joined to voter rolls, public records, or a leaked file — and names come right back.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983480" y="4526280"/>
            <a:ext cx="3215488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5212080" y="4645152"/>
            <a:ext cx="2758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COMMON QIs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212080" y="4892040"/>
            <a:ext cx="2758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+ employer · rare diagnosis + city · timestamps + location · device model + timezone + language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427568" y="4526280"/>
            <a:ext cx="3215488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1"/>
          <p:cNvSpPr txBox="1"/>
          <p:nvPr/>
        </p:nvSpPr>
        <p:spPr>
          <a:xfrm>
            <a:off x="8656168" y="4645152"/>
            <a:ext cx="2758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8656168" y="4892040"/>
            <a:ext cx="2758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(ZIP → 3 digits, DOB → year), suppress rare combinations, or never release row-level data at all.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SENSITIVITY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personal data carries the same risk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the data first. The tier decides the default controls — so reviewers debate exceptions, not basics.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10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CONTROLS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103120"/>
            <a:ext cx="1554480" cy="676656"/>
          </a:xfrm>
          <a:prstGeom prst="roundRect">
            <a:avLst>
              <a:gd name="adj" fmla="val 13514"/>
            </a:avLst>
          </a:prstGeom>
          <a:solidFill>
            <a:srgbClr val="E3D8C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· PUBLIC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103120"/>
            <a:ext cx="4206240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108960" y="2103120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prices, public profile fields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2103120"/>
            <a:ext cx="437357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52360" y="2103120"/>
            <a:ext cx="40535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checks; no special handling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9504"/>
            <a:ext cx="1719072" cy="676656"/>
          </a:xfrm>
          <a:prstGeom prst="roundRect">
            <a:avLst>
              <a:gd name="adj" fmla="val 13514"/>
            </a:avLst>
          </a:prstGeom>
          <a:solidFill>
            <a:srgbClr val="FBEDB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· INTERNAL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2889504"/>
            <a:ext cx="4206240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108960" y="2889504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metrics, config, non-personal logs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269480" y="2889504"/>
            <a:ext cx="437357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52360" y="2889504"/>
            <a:ext cx="40535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control; standard retention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675888"/>
            <a:ext cx="1883664" cy="676656"/>
          </a:xfrm>
          <a:prstGeom prst="roundRect">
            <a:avLst>
              <a:gd name="adj" fmla="val 13514"/>
            </a:avLst>
          </a:prstGeom>
          <a:solidFill>
            <a:srgbClr val="F2C14E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· PERSONAL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3675888"/>
            <a:ext cx="4206240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108960" y="3675888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device ID, usage events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269480" y="3675888"/>
            <a:ext cx="437357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452360" y="3675888"/>
            <a:ext cx="40535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tags, retention limits, access logging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62272"/>
            <a:ext cx="2048256" cy="676656"/>
          </a:xfrm>
          <a:prstGeom prst="roundRect">
            <a:avLst>
              <a:gd name="adj" fmla="val 13514"/>
            </a:avLst>
          </a:prstGeom>
          <a:solidFill>
            <a:srgbClr val="E39A2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· SENSITIVE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4462272"/>
            <a:ext cx="4206240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108960" y="4462272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location, contacts, messages, financial data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269480" y="4462272"/>
            <a:ext cx="4373575" cy="676656"/>
          </a:xfrm>
          <a:prstGeom prst="roundRect">
            <a:avLst>
              <a:gd name="adj" fmla="val 18919"/>
            </a:avLst>
          </a:prstGeom>
          <a:solidFill>
            <a:srgbClr val="F7D5CB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452360" y="4462272"/>
            <a:ext cx="40535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Minimize, encrypt, need-to-know access, short TTL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248656"/>
            <a:ext cx="2212848" cy="676656"/>
          </a:xfrm>
          <a:prstGeom prst="roundRect">
            <a:avLst>
              <a:gd name="adj" fmla="val 13514"/>
            </a:avLst>
          </a:prstGeom>
          <a:solidFill>
            <a:srgbClr val="D6452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· SPECIAL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5248656"/>
            <a:ext cx="4206240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108960" y="524865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biometrics, children's data, sexual orientation, government IDs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269480" y="5248656"/>
            <a:ext cx="4373575" cy="676656"/>
          </a:xfrm>
          <a:prstGeom prst="roundRect">
            <a:avLst>
              <a:gd name="adj" fmla="val 18919"/>
            </a:avLst>
          </a:prstGeom>
          <a:solidFill>
            <a:srgbClr val="F7D5CB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452360" y="5248656"/>
            <a:ext cx="40535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collecting; on-device first; explicit consent; strongest isolation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DATA LIFECYCLE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follows the data from collection to deletion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review asks one question — and names one control — at every stage.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73175" y="2395728"/>
            <a:ext cx="9245346" cy="91"/>
          </a:xfrm>
          <a:prstGeom prst="line">
            <a:avLst/>
          </a:prstGeom>
          <a:noFill/>
          <a:ln w="38100">
            <a:solidFill>
              <a:srgbClr val="D6C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0255" y="1892808"/>
            <a:ext cx="1005840" cy="100584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715" y="2144268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58775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8775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What?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04495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41655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1655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minimum; derive on device where you can.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819324" y="1892808"/>
            <a:ext cx="1005840" cy="100584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784" y="214426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407844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407844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Where?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2453564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2590724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2590724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locally or inside isolated services.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68393" y="1892808"/>
            <a:ext cx="1005840" cy="100584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853" y="2144268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256913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256913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1900" dirty="0"/>
          </a:p>
        </p:txBody>
      </p:sp>
      <p:sp>
        <p:nvSpPr>
          <p:cNvPr id="30" name="Shape 25"/>
          <p:cNvSpPr/>
          <p:nvPr/>
        </p:nvSpPr>
        <p:spPr>
          <a:xfrm>
            <a:off x="4302633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4439793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4439793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tags checked at read time, not just intake.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517462" y="1892808"/>
            <a:ext cx="1005840" cy="10058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2" y="2144268"/>
            <a:ext cx="502920" cy="50292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105982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105982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whom?</a:t>
            </a:r>
            <a:endParaRPr lang="en-US" sz="1900" dirty="0"/>
          </a:p>
        </p:txBody>
      </p:sp>
      <p:sp>
        <p:nvSpPr>
          <p:cNvPr id="37" name="Shape 31"/>
          <p:cNvSpPr/>
          <p:nvPr/>
        </p:nvSpPr>
        <p:spPr>
          <a:xfrm>
            <a:off x="6151702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6288862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288862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scoped tokens, aggregation before export.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366531" y="1892808"/>
            <a:ext cx="1005840" cy="10058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991" y="2144268"/>
            <a:ext cx="502920" cy="50292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955051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7955051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long?</a:t>
            </a:r>
            <a:endParaRPr lang="en-US" sz="1900" dirty="0"/>
          </a:p>
        </p:txBody>
      </p:sp>
      <p:sp>
        <p:nvSpPr>
          <p:cNvPr id="44" name="Shape 37"/>
          <p:cNvSpPr/>
          <p:nvPr/>
        </p:nvSpPr>
        <p:spPr>
          <a:xfrm>
            <a:off x="8000771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5" name="Text 38"/>
          <p:cNvSpPr txBox="1"/>
          <p:nvPr/>
        </p:nvSpPr>
        <p:spPr>
          <a:xfrm>
            <a:off x="8137931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8137931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per field: raw → derived → aggregate.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10215601" y="1892808"/>
            <a:ext cx="1005840" cy="100584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061" y="2144268"/>
            <a:ext cx="502920" cy="5029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9804121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9804121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it.</a:t>
            </a:r>
            <a:endParaRPr lang="en-US" sz="1900" dirty="0"/>
          </a:p>
        </p:txBody>
      </p:sp>
      <p:sp>
        <p:nvSpPr>
          <p:cNvPr id="51" name="Shape 43"/>
          <p:cNvSpPr/>
          <p:nvPr/>
        </p:nvSpPr>
        <p:spPr>
          <a:xfrm>
            <a:off x="9849841" y="3794760"/>
            <a:ext cx="1737360" cy="13716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2" name="Text 44"/>
          <p:cNvSpPr txBox="1"/>
          <p:nvPr/>
        </p:nvSpPr>
        <p:spPr>
          <a:xfrm>
            <a:off x="9987001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9987001" y="4114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deletes, audit trail, verification scans.</a:t>
            </a:r>
            <a:endParaRPr lang="en-US" sz="1250" dirty="0"/>
          </a:p>
        </p:txBody>
      </p:sp>
      <p:sp>
        <p:nvSpPr>
          <p:cNvPr id="54" name="Text 46"/>
          <p:cNvSpPr txBox="1"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D2E8E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deletion path is part of the architecture — not a ticket you file after launch.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 framing inspired by D. Solove’s taxonomy and the NIST Privacy Framework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HARMS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a privacy failure actually do?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human consequences, not data categories. Name the harm and the fix gets obvious.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84832"/>
            <a:ext cx="658368" cy="65836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49424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22128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observes behavior people expected to stay private.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27066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“find friends” feature that keeps a history nobody asked for.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55868" y="18288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84468" y="2084832"/>
            <a:ext cx="658368" cy="65836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224942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53148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353148" y="22128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becomes visible to the wrong party.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353148" y="27066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lock-screen preview reveals a diagnosis on a shared phone.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2004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77240" y="3456432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21024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45920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LINKABILITY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645920" y="35844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activities get stitched into a person-level history.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645920" y="40782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One ad ID shared by a health app and a dating app.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255868" y="32004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84468" y="3456432"/>
            <a:ext cx="658368" cy="65836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3621024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353148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MANIPULATION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353148" y="35844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are used to steer, exploit, or discriminate.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353148" y="40782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Prices that rise for users inferred to be desperate.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45720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77240" y="4828032"/>
            <a:ext cx="658368" cy="65836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992624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645920" y="4718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OF CONTROL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645920" y="49560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can't understand, stop, correct, or delete a use.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1645920" y="54498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Opt-out honored in the app, ignored in the warehouse.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6255868" y="4572000"/>
            <a:ext cx="5387188" cy="1243584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484468" y="4828032"/>
            <a:ext cx="658368" cy="65836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060" y="4992624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353148" y="4718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USE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7353148" y="4956048"/>
            <a:ext cx="410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for one reason quietly serves another.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7353148" y="5449824"/>
            <a:ext cx="410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Phone numbers given for security reused for ad targeting.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A. Cavoukian, Privacy by Design: The 7 Foundational Principles (IPC Ontario)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PRIVACY BY DESIGN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foundational principles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Cavoukian's framework (2009) — now echoed in GDPR Article 25, “data protection by design and by default.”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243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9718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exposure in the design review, not the incident review.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79394" y="18745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07994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3607994" y="26243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the default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07994" y="29718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does nothing — and is still protected.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0148" y="18745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38748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6243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into design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38748" y="29718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of the architecture, not a bolt-on filter.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40901" y="18745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69501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9269501" y="26243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69501" y="29718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Positive-sum: ship the feature and the protection.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77240" y="4041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6817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security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0292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from collection to verified deletion.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79394" y="39319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607994" y="4041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33" name="Text 31"/>
          <p:cNvSpPr txBox="1"/>
          <p:nvPr/>
        </p:nvSpPr>
        <p:spPr>
          <a:xfrm>
            <a:off x="3607994" y="46817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 transparency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607994" y="50292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can be checked by users, auditors, researchers.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38748" y="4041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37" name="Text 35"/>
          <p:cNvSpPr txBox="1"/>
          <p:nvPr/>
        </p:nvSpPr>
        <p:spPr>
          <a:xfrm>
            <a:off x="6438748" y="4681728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the user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38748" y="5029200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defaults, clear notice, easy controls.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40901" y="393192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69501" y="4133088"/>
            <a:ext cx="214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ENGINEER’S TRANSLATION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269501" y="4434840"/>
            <a:ext cx="2144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each principle into a check a machine can run. A principle nobody tests is a poster.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 only — not legal advice. Check current text and guidance for your jurisdiction.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THE REGULATORY MAP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law asks of engineers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 lawyer. You need to know which obligations turn into system requirements.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1984248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311298" y="2029968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2E4A9E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/ EEA · 2018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395728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of people in the EU.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807208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 per purpose · access, erasure, portability · DPIAs for high-risk processing · 72-hour breach notice to regulators.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2978" y="1847088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51578" y="1984248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CCPA / CPRA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085637" y="2029968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1E6B6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California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51578" y="2395728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Consumers' personal information at covered businesses.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2807208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Know, delete, correct · opt out of sale and sharing · limit use of sensitive PI · honor Global Privacy Control.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7317" y="1847088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25917" y="1984248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COPPA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859975" y="2029968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E39A2D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325917" y="2395728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13 on child-directed services.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5917" y="2807208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· strict minimization · deletion on request · no behavioral ads without consent.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4069080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2311298" y="4114800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480560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at covered entities and business associates.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89204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Minimum-necessary access · audit controls · business associate agreements · breach notification.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22978" y="3931920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551578" y="4069080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GLBA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6085637" y="4114800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7A3B6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51578" y="4480560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at financial institutions.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51578" y="489204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notices · opt-outs for some sharing · a written security program under the Safeguards Rule.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97317" y="3931920"/>
            <a:ext cx="354573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325917" y="4069080"/>
            <a:ext cx="1716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 DSS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9859975" y="4114800"/>
            <a:ext cx="1600200" cy="310896"/>
          </a:xfrm>
          <a:prstGeom prst="roundRect">
            <a:avLst>
              <a:gd name="adj" fmla="val 35294"/>
            </a:avLst>
          </a:prstGeom>
          <a:noFill/>
          <a:ln w="15875">
            <a:solidFill>
              <a:srgbClr val="B8860B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Card-industry standard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25917" y="4480560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data wherever it is stored or processed.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325917" y="489204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store what you don't need · tokenize card numbers · segment the card environment · never keep CVV after auth.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RIGHTS → REQUIREMENTS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user right is a system requirement in disguise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asks, the system must answer across every store — including the ones nobody remembers.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4708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“right to know”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00253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184708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184708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record for a person across services, warehouse, logs, and backups — by identity graph, not guesswork.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48716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· erasure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264261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248716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48716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deletes to replicas, caches, derived tables, ML features, and vendors — and prove completion.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328269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312724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12724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source and every downstream copy so stale derivatives cannot resurrect old values.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6732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392277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0" y="376732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376732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 a machine-readable format, behind authentication strong enough to stop account takeover.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0740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· objection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66160" y="456285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0" y="440740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440740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consent at read time, not only at collection — and honor it inside batch jobs too.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04748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sensitive use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66160" y="5202936"/>
            <a:ext cx="45720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0" y="5047488"/>
            <a:ext cx="7528255" cy="530352"/>
          </a:xfrm>
          <a:prstGeom prst="roundRect">
            <a:avLst>
              <a:gd name="adj" fmla="val 24138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5047488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tags on sensitive fields, enforced by the query layer rather than a wiki page.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prerequisite behind all six: data lineage. You cannot delete what you cannot find.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IDENTIFIERS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 create linkability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stable key is a thread that stitches contexts together. Choose the weakest identifier that still does the job.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MORE LINKABLE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85455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LINKABLE 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2218883" cy="146304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7523" y="2487168"/>
            <a:ext cx="2218883" cy="146304"/>
          </a:xfrm>
          <a:prstGeom prst="rect">
            <a:avLst/>
          </a:prstGeom>
          <a:solidFill>
            <a:srgbClr val="E0662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6406" y="2487168"/>
            <a:ext cx="2218883" cy="146304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5289" y="2487168"/>
            <a:ext cx="2218883" cy="146304"/>
          </a:xfrm>
          <a:prstGeom prst="rect">
            <a:avLst/>
          </a:prstGeom>
          <a:solidFill>
            <a:srgbClr val="5E9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24172" y="2487168"/>
            <a:ext cx="2218883" cy="146304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3762" y="2286000"/>
            <a:ext cx="548640" cy="548640"/>
          </a:xfrm>
          <a:prstGeom prst="ellipse">
            <a:avLst/>
          </a:prstGeom>
          <a:solidFill>
            <a:srgbClr val="FFFDF8"/>
          </a:solidFill>
          <a:ln w="50800">
            <a:solidFill>
              <a:srgbClr val="D6452A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6522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durable ID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6522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phone · account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02645" y="2286000"/>
            <a:ext cx="548640" cy="548640"/>
          </a:xfrm>
          <a:prstGeom prst="ellipse">
            <a:avLst/>
          </a:prstGeom>
          <a:solidFill>
            <a:srgbClr val="FFFDF8"/>
          </a:solidFill>
          <a:ln w="50800">
            <a:solidFill>
              <a:srgbClr val="E0662F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825405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device ID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825405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identifier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21528" y="2286000"/>
            <a:ext cx="548640" cy="548640"/>
          </a:xfrm>
          <a:prstGeom prst="ellipse">
            <a:avLst/>
          </a:prstGeom>
          <a:solidFill>
            <a:srgbClr val="FFFDF8"/>
          </a:solidFill>
          <a:ln w="50800">
            <a:solidFill>
              <a:srgbClr val="E39A2D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44288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/ per-vendor ID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44288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developer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0411" y="2286000"/>
            <a:ext cx="548640" cy="548640"/>
          </a:xfrm>
          <a:prstGeom prst="ellipse">
            <a:avLst/>
          </a:prstGeom>
          <a:solidFill>
            <a:srgbClr val="FFFDF8"/>
          </a:solidFill>
          <a:ln w="50800">
            <a:solidFill>
              <a:srgbClr val="5E9A6B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63171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ID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63171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daily; per purpose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59294" y="2286000"/>
            <a:ext cx="548640" cy="548640"/>
          </a:xfrm>
          <a:prstGeom prst="ellipse">
            <a:avLst/>
          </a:prstGeom>
          <a:solidFill>
            <a:srgbClr val="FFFDF8"/>
          </a:solidFill>
          <a:ln w="50800">
            <a:solidFill>
              <a:srgbClr val="1E6B63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482054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identifier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482054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or anonymous request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5387188" cy="1554480"/>
          </a:xfrm>
          <a:prstGeom prst="roundRect">
            <a:avLst>
              <a:gd name="adj" fmla="val 8235"/>
            </a:avLst>
          </a:prstGeom>
          <a:solidFill>
            <a:srgbClr val="D2E8E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IN EVERY REVIEW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773168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use a rotating, scoped, or purpose-specific identifier instead of one durable identity?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55868" y="4343400"/>
            <a:ext cx="5387188" cy="1554480"/>
          </a:xfrm>
          <a:prstGeom prst="roundRect">
            <a:avLst>
              <a:gd name="adj" fmla="val 823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30188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APPLE PATTERN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30188" y="4800600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Per-vendor identifiers for apps, App Tracking Transparency gating the advertising identifier, and iCloud Private Relay hiding IP addresses from sites.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PURPOSE LIMITATION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is not a blank check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should carry its purpose with it — and every new use should have to show its ticket.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47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PURPOSE TAG TRAVELS WITH THE DATA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4028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phone_number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06040" y="2560320"/>
            <a:ext cx="45720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108960" y="224028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 = account_security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2560320"/>
            <a:ext cx="36576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903720" y="2240280"/>
            <a:ext cx="1481328" cy="640080"/>
          </a:xfrm>
          <a:prstGeom prst="roundRect">
            <a:avLst>
              <a:gd name="adj" fmla="val 17143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send login code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240280"/>
            <a:ext cx="1481328" cy="640080"/>
          </a:xfrm>
          <a:prstGeom prst="roundRect">
            <a:avLst>
              <a:gd name="adj" fmla="val 17143"/>
            </a:avLst>
          </a:prstGeom>
          <a:solidFill>
            <a:srgbClr val="F7D5CB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ad targeting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240280"/>
            <a:ext cx="1481328" cy="640080"/>
          </a:xfrm>
          <a:prstGeom prst="roundRect">
            <a:avLst>
              <a:gd name="adj" fmla="val 17143"/>
            </a:avLst>
          </a:prstGeom>
          <a:solidFill>
            <a:srgbClr val="F7D5CB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model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user understand?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the policy says — what a reasonable person took away.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79394" y="329184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07994" y="3474720"/>
            <a:ext cx="502920" cy="50292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607994" y="406908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original purpose?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607994" y="457200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metadata, not in someone’s memory.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0148" y="329184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38748" y="3474720"/>
            <a:ext cx="502920" cy="502920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438748" y="406908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purpose change?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38748" y="457200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purpose needs a new basis — often new consent.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40901" y="329184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69501" y="3474720"/>
            <a:ext cx="502920" cy="50292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269501" y="406908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user revoke?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269501" y="457200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 revocation reach every copy?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D2E8E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one control. Architecture should still minimize exposure — and enforce purpose at read time.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CONSENT ARCHITECTURE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is state, not a checkbox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 explicitly. Every state change must reach every copy of the data — including the ones in flight.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2606040"/>
            <a:ext cx="73152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6032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opts 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3560" y="2468880"/>
            <a:ext cx="73152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577840" y="2130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2788920"/>
            <a:ext cx="731520" cy="91"/>
          </a:xfrm>
          <a:prstGeom prst="line">
            <a:avLst/>
          </a:prstGeom>
          <a:noFill/>
          <a:ln w="19050">
            <a:solidFill>
              <a:srgbClr val="6B6358"/>
            </a:solidFill>
            <a:prstDash val="dash"/>
            <a:head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re-consent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3108960"/>
            <a:ext cx="91" cy="914400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9748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/ scope ends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91" cy="914400"/>
          </a:xfrm>
          <a:prstGeom prst="line">
            <a:avLst/>
          </a:prstGeom>
          <a:noFill/>
          <a:ln w="19050">
            <a:solidFill>
              <a:srgbClr val="6B6358"/>
            </a:solidFill>
            <a:prstDash val="dash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89204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re-prompt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14884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E3D8C4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214884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14884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06908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no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06840" y="1828800"/>
            <a:ext cx="2636215" cy="3383280"/>
          </a:xfrm>
          <a:prstGeom prst="roundRect">
            <a:avLst>
              <a:gd name="adj" fmla="val 485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35440" y="1993392"/>
            <a:ext cx="2179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REVOKE, THE SYSTEM MUST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514600"/>
            <a:ext cx="329184" cy="32918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2514600"/>
            <a:ext cx="1767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new collection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035808"/>
            <a:ext cx="329184" cy="32918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3035808"/>
            <a:ext cx="1767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reads at query time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557016"/>
            <a:ext cx="329184" cy="32918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3557016"/>
            <a:ext cx="1767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or detach derived data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078224"/>
            <a:ext cx="329184" cy="32918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4078224"/>
            <a:ext cx="1767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downstream jobs &amp; vendors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599432"/>
            <a:ext cx="329184" cy="32918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4599432"/>
            <a:ext cx="1767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for audit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 rot="-300000">
            <a:off x="6035040" y="4251960"/>
            <a:ext cx="2514600" cy="45720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2E4A9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MUST PROPAGATE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7D5CB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in practice: batch jobs that cached consent at start, features built before revocation, exports already sent.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RETENTION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a risk multiplier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day is another day for breach, subpoena, misuse, inference, and scope creep.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10637215" cy="91"/>
          </a:xfrm>
          <a:prstGeom prst="line">
            <a:avLst/>
          </a:prstGeom>
          <a:noFill/>
          <a:ln w="38100">
            <a:solidFill>
              <a:srgbClr val="D6C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3020" y="2446020"/>
            <a:ext cx="502920" cy="502920"/>
          </a:xfrm>
          <a:prstGeom prst="ellipse">
            <a:avLst/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000500" y="2308860"/>
            <a:ext cx="777240" cy="777240"/>
          </a:xfrm>
          <a:prstGeom prst="ellipse">
            <a:avLst/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7472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2148840"/>
            <a:ext cx="1097280" cy="1097280"/>
          </a:xfrm>
          <a:prstGeom prst="ellipse">
            <a:avLst/>
          </a:prstGeom>
          <a:solidFill>
            <a:srgbClr val="E0662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4060" y="1988820"/>
            <a:ext cx="1417320" cy="1417320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41832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forever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size = what an attacker, a subpoena, or a new product idea can reach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51960"/>
            <a:ext cx="3931920" cy="1051560"/>
          </a:xfrm>
          <a:prstGeom prst="homePlate">
            <a:avLst/>
          </a:prstGeom>
          <a:solidFill>
            <a:srgbClr val="D6452A"/>
          </a:solidFill>
          <a:ln/>
        </p:spPr>
        <p:txBody>
          <a:bodyPr wrap="square" lIns="0" tIns="7620" rIns="63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days, not years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251960"/>
            <a:ext cx="3931920" cy="1051560"/>
          </a:xfrm>
          <a:prstGeom prst="chevron">
            <a:avLst/>
          </a:prstGeom>
          <a:solidFill>
            <a:srgbClr val="E39A2D"/>
          </a:solidFill>
          <a:ln/>
        </p:spPr>
        <p:txBody>
          <a:bodyPr wrap="square" lIns="0" tIns="7620" rIns="63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the decision needs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251960"/>
            <a:ext cx="3931920" cy="1051560"/>
          </a:xfrm>
          <a:prstGeom prst="chevron">
            <a:avLst/>
          </a:prstGeom>
          <a:solidFill>
            <a:srgbClr val="1E6B63"/>
          </a:solidFill>
          <a:ln/>
        </p:spPr>
        <p:txBody>
          <a:bodyPr wrap="square" lIns="0" tIns="7620" rIns="63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with identifiers expired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to ask: after the decision is made, do we still need the raw event?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DE-IDENTIFICATION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Pseudonymous is not anonymous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name does not remove identifiability. Know exactly where your data sits on this spectrum.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072579" cy="301752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2039112"/>
            <a:ext cx="174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377440"/>
            <a:ext cx="1798259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Jane Doe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jane@mail.com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zip: 94086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520440"/>
            <a:ext cx="1743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names a person.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RISK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4590288"/>
            <a:ext cx="146304" cy="146304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" y="4590288"/>
            <a:ext cx="146304" cy="146304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3856" y="4590288"/>
            <a:ext cx="146304" cy="146304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44168" y="4590288"/>
            <a:ext cx="146304" cy="146304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590288"/>
            <a:ext cx="146304" cy="146304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04099" y="1874520"/>
            <a:ext cx="2072579" cy="301752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968691" y="2039112"/>
            <a:ext cx="174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6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PSEUDONYMIZED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41259" y="2377440"/>
            <a:ext cx="1798259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uid: u_8472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zip: 94086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dob: 1988-03-14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968691" y="3520440"/>
            <a:ext cx="1743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Re-linkable. Still personal data under GDPR.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968691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RISK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68691" y="4590288"/>
            <a:ext cx="146304" cy="146304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9003" y="4590288"/>
            <a:ext cx="146304" cy="146304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9315" y="4590288"/>
            <a:ext cx="146304" cy="146304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99627" y="4590288"/>
            <a:ext cx="146304" cy="146304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9939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9558" y="1874520"/>
            <a:ext cx="2072579" cy="301752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224150" y="2039112"/>
            <a:ext cx="174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DE-IDENTIFIED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196718" y="2377440"/>
            <a:ext cx="1798259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uid: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zip: 940**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35–39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224150" y="3520440"/>
            <a:ext cx="1743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reduced, not removed.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224150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RISK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24150" y="4590288"/>
            <a:ext cx="146304" cy="146304"/>
          </a:xfrm>
          <a:prstGeom prst="ellipse">
            <a:avLst/>
          </a:prstGeom>
          <a:solidFill>
            <a:srgbClr val="E39A2D"/>
          </a:solidFill>
          <a:ln w="12700">
            <a:solidFill>
              <a:srgbClr val="E39A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34462" y="4590288"/>
            <a:ext cx="146304" cy="146304"/>
          </a:xfrm>
          <a:prstGeom prst="ellipse">
            <a:avLst/>
          </a:prstGeom>
          <a:solidFill>
            <a:srgbClr val="E39A2D"/>
          </a:solidFill>
          <a:ln w="12700">
            <a:solidFill>
              <a:srgbClr val="E39A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4774" y="4590288"/>
            <a:ext cx="146304" cy="146304"/>
          </a:xfrm>
          <a:prstGeom prst="ellipse">
            <a:avLst/>
          </a:prstGeom>
          <a:solidFill>
            <a:srgbClr val="E39A2D"/>
          </a:solidFill>
          <a:ln w="12700">
            <a:solidFill>
              <a:srgbClr val="E39A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5086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E39A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65398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E39A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1874520"/>
            <a:ext cx="2072579" cy="301752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479609" y="2039112"/>
            <a:ext cx="174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ANONYMIZED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452177" y="2377440"/>
            <a:ext cx="1798259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zip3: 940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30–39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 ≥ 20)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479609" y="3520440"/>
            <a:ext cx="1743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reasonably likely route back. Hard.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479609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RISK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79609" y="4590288"/>
            <a:ext cx="146304" cy="146304"/>
          </a:xfrm>
          <a:prstGeom prst="ellipse">
            <a:avLst/>
          </a:prstGeom>
          <a:solidFill>
            <a:srgbClr val="5E9A6B"/>
          </a:solidFill>
          <a:ln w="12700">
            <a:solidFill>
              <a:srgbClr val="5E9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9921" y="4590288"/>
            <a:ext cx="146304" cy="146304"/>
          </a:xfrm>
          <a:prstGeom prst="ellipse">
            <a:avLst/>
          </a:prstGeom>
          <a:solidFill>
            <a:srgbClr val="5E9A6B"/>
          </a:solidFill>
          <a:ln w="12700">
            <a:solidFill>
              <a:srgbClr val="5E9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0233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5E9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0545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5E9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0857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5E9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70476" y="1874520"/>
            <a:ext cx="2072579" cy="301752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9735068" y="2039112"/>
            <a:ext cx="174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 + DP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707636" y="2377440"/>
            <a:ext cx="1798259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zip3: 940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 1,204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noise (ε = 1)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735068" y="3520440"/>
            <a:ext cx="1743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bound. Least granular.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735068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RISK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735068" y="4590288"/>
            <a:ext cx="146304" cy="146304"/>
          </a:xfrm>
          <a:prstGeom prst="ellipse">
            <a:avLst/>
          </a:prstGeom>
          <a:solidFill>
            <a:srgbClr val="1E6B63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45380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55692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66004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76316" y="4590288"/>
            <a:ext cx="146304" cy="14630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4737"/>
            </a:avLst>
          </a:prstGeom>
          <a:solidFill>
            <a:srgbClr val="F7D5CB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77240" y="512064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attack: </a:t>
            </a:r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“anonymous” data to a public dataset on shared quasi-identifiers — exactly how AOL and Netflix failed.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4737"/>
            </a:avLst>
          </a:prstGeom>
          <a:solidFill>
            <a:srgbClr val="D2E8E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461608" y="512064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</a:t>
            </a:r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motivated insider with outside data single out one person? If yes, it is not anonymous.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CORE CONTROLS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Encryption, tokenization, isolation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protect value without carrying the original everywhere — each with a blind spot.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3515258" cy="3429000"/>
          </a:xfrm>
          <a:prstGeom prst="roundRect">
            <a:avLst>
              <a:gd name="adj" fmla="val 37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75688"/>
            <a:ext cx="685800" cy="68580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47138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212140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2414016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unreadable without the key.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3232" y="3081528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D2E8E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3172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38328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theft, network sniffing, a stolen backup.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3232" y="4160520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F7D5C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DOESN'T STOP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462272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the system decrypts for — including over-broad internal access.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38218" y="1847088"/>
            <a:ext cx="3515258" cy="3429000"/>
          </a:xfrm>
          <a:prstGeom prst="roundRect">
            <a:avLst>
              <a:gd name="adj" fmla="val 37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66818" y="2075688"/>
            <a:ext cx="685800" cy="68580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68" y="2247138"/>
            <a:ext cx="342900" cy="3429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35498" y="212140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435498" y="2414016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sensitive value for a surrogate; keep the original in a vault.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502810" y="3081528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D2E8E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658258" y="3172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4658258" y="338328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and IDs spreading into logs, analytics, and vendors.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502810" y="4160520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F7D5C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658258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DOESN'T STOP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4658258" y="4462272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Linkability — a stable token is still a stable identifier.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8127797" y="1847088"/>
            <a:ext cx="3515258" cy="3429000"/>
          </a:xfrm>
          <a:prstGeom prst="roundRect">
            <a:avLst>
              <a:gd name="adj" fmla="val 37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356397" y="2075688"/>
            <a:ext cx="685800" cy="6858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847" y="2247138"/>
            <a:ext cx="342900" cy="3429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225077" y="212140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9225077" y="2414016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identity from behavior across systems, keys, and teams.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8292389" y="3081528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D2E8E1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447837" y="3172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8447837" y="338328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service revealing who did what.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8292389" y="4160520"/>
            <a:ext cx="3186074" cy="987552"/>
          </a:xfrm>
          <a:prstGeom prst="roundRect">
            <a:avLst>
              <a:gd name="adj" fmla="val 9259"/>
            </a:avLst>
          </a:prstGeom>
          <a:solidFill>
            <a:srgbClr val="F7D5C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447837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DOESN'T STOP</a:t>
            </a:r>
            <a:endParaRPr lang="en-US" sz="950" dirty="0"/>
          </a:p>
        </p:txBody>
      </p:sp>
      <p:sp>
        <p:nvSpPr>
          <p:cNvPr id="43" name="Text 38"/>
          <p:cNvSpPr txBox="1"/>
          <p:nvPr/>
        </p:nvSpPr>
        <p:spPr>
          <a:xfrm>
            <a:off x="8447837" y="4462272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someone is permitted to run. Guard the join path.</a:t>
            </a:r>
            <a:endParaRPr lang="en-US" sz="125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protects necessary data. Minimization asks whether the data should exist at all.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6B63"/>
          </a:solidFill>
          <a:ln w="12700">
            <a:solidFill>
              <a:srgbClr val="1E6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DELETION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is a distributed-systems problem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“delete my account” fans out to every place the data was ever copied. Miss one and the promise breaks.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16352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3364992"/>
            <a:ext cx="50292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971800" y="2816352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5212080" y="1984248"/>
            <a:ext cx="594360" cy="1380744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1810512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1810512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hard delete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flipH="1">
            <a:off x="5212080" y="2386584"/>
            <a:ext cx="594360" cy="978408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212848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2212848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&amp; caches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invalidate, short TTL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H="1">
            <a:off x="5212080" y="2788920"/>
            <a:ext cx="594360" cy="576072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615184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2615184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redact at write time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flipH="1">
            <a:off x="5212080" y="3191256"/>
            <a:ext cx="594360" cy="173736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017520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3017520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crypto-shred the per-user key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212080" y="3364992"/>
            <a:ext cx="594360" cy="228600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3419856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419856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tables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partition-aware delete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212080" y="3364992"/>
            <a:ext cx="594360" cy="630936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3822192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3822192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 &amp; models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rebuild, retrain, or unlearn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212080" y="3364992"/>
            <a:ext cx="594360" cy="1033272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4224528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4224528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indexes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reindex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212080" y="3364992"/>
            <a:ext cx="594360" cy="1435608"/>
          </a:xfrm>
          <a:prstGeom prst="line">
            <a:avLst/>
          </a:prstGeom>
          <a:noFill/>
          <a:ln w="15875">
            <a:solidFill>
              <a:srgbClr val="B9A6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4626864"/>
            <a:ext cx="5836615" cy="347472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4626864"/>
            <a:ext cx="5562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processors</a:t>
            </a:r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delete API + attestation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3545738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9808" y="5239512"/>
            <a:ext cx="3143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553212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deleted so late-arriving copies can’t resurrect the record.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22978" y="5166360"/>
            <a:ext cx="3545738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24146" y="5239512"/>
            <a:ext cx="3143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Crypto-shredding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24146" y="553212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per user; destroy the key to delete everywhere at once.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97317" y="5166360"/>
            <a:ext cx="3545738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98485" y="5239512"/>
            <a:ext cx="3143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298485" y="553212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Re-query after the SLA; alert on any survivor.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64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-182880"/>
            <a:ext cx="512064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0" b="1" dirty="0">
                <a:solidFill>
                  <a:srgbClr val="BC3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 · ENGINEERING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engineer the privacy promise.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controls from the data flow and the threat model — never because a technique sounds impressive.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LEVEL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 MAP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4772" y="4709160"/>
            <a:ext cx="217627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DIFFERENTIAL PRIVACY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09060" y="4709160"/>
            <a:ext cx="179222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vs CENTRAL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29300" y="47091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663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K-ANONYMITY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88820" y="5166360"/>
            <a:ext cx="198424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01084" y="51663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MPC · HE · TEE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29300" y="5166360"/>
            <a:ext cx="150418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MODELS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LINDDUN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04772" y="56235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60904" y="56235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01084" y="5623560"/>
            <a:ext cx="73609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5623560"/>
            <a:ext cx="169621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 MODULE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THE PET TOOLBOX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Privacy-enhancing technologies, sorted by what they change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solves every problem. Group them by the question each one answers.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3515258" cy="530352"/>
          </a:xfrm>
          <a:prstGeom prst="roundRect">
            <a:avLst>
              <a:gd name="adj" fmla="val 2069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 THE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70632"/>
            <a:ext cx="182880" cy="182880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2587752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880360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fewer fields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75304"/>
            <a:ext cx="182880" cy="182880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3392424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processing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85032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leaves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79976"/>
            <a:ext cx="182880" cy="182880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197096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limits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489704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time-at-risk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184648"/>
            <a:ext cx="182880" cy="182880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001768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294376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coarsen ZIP, age, timestamps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338218" y="1828800"/>
            <a:ext cx="3515258" cy="530352"/>
          </a:xfrm>
          <a:prstGeom prst="roundRect">
            <a:avLst>
              <a:gd name="adj" fmla="val 20690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 THE DATA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38218" y="2514600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1098" y="2770632"/>
            <a:ext cx="182880" cy="182880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41138" y="2587752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Pseudonymization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841138" y="2880360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identifiers for surrogates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38218" y="3319272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1098" y="3575304"/>
            <a:ext cx="182880" cy="182880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41138" y="3392424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family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4841138" y="3685032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each row in a crowd of 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38218" y="4123944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21098" y="4379976"/>
            <a:ext cx="182880" cy="182880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841138" y="4197096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841138" y="4489704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bound on one person's influence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38218" y="4928616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21098" y="5184648"/>
            <a:ext cx="182880" cy="182880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41138" y="5001768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4841138" y="5294376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similar fake rows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127797" y="1828800"/>
            <a:ext cx="3515258" cy="530352"/>
          </a:xfrm>
          <a:prstGeom prst="roundRect">
            <a:avLst>
              <a:gd name="adj" fmla="val 2069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 THE COMPUTATION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27797" y="2514600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310677" y="2770632"/>
            <a:ext cx="182880" cy="182880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630717" y="2587752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+ secure agg.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8630717" y="2880360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without collecting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27797" y="3319272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310677" y="3575304"/>
            <a:ext cx="182880" cy="182880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630717" y="3392424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multi-party computation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8630717" y="3685032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jointly, reveal only output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27797" y="4123944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310677" y="4379976"/>
            <a:ext cx="182880" cy="182880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630717" y="4197096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 encryption</a:t>
            </a:r>
            <a:endParaRPr lang="en-US" sz="1450" dirty="0"/>
          </a:p>
        </p:txBody>
      </p:sp>
      <p:sp>
        <p:nvSpPr>
          <p:cNvPr id="57" name="Text 55"/>
          <p:cNvSpPr txBox="1"/>
          <p:nvPr/>
        </p:nvSpPr>
        <p:spPr>
          <a:xfrm>
            <a:off x="8630717" y="4489704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ciphertext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27797" y="4928616"/>
            <a:ext cx="3515258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310677" y="5184648"/>
            <a:ext cx="182880" cy="182880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630717" y="5001768"/>
            <a:ext cx="2829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TEEs / confidential compute</a:t>
            </a:r>
            <a:endParaRPr lang="en-US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8630717" y="5294376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hardware-isolated processing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habit: state the threat model before naming the technology.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ML Research, “Learning with Privacy at Scale”; Dwork &amp; Roth (2014)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DIFFERENTIAL PRIVACY · INTUITION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one-sentence version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publish should look almost the same whether or not any one person is in the data.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2103120" cy="2103120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920240"/>
            <a:ext cx="2103120" cy="2103120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that differ by exactly one person’s records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3317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6600" dirty="0"/>
          </a:p>
        </p:txBody>
      </p:sp>
      <p:sp>
        <p:nvSpPr>
          <p:cNvPr id="17" name="Shape 15"/>
          <p:cNvSpPr/>
          <p:nvPr/>
        </p:nvSpPr>
        <p:spPr>
          <a:xfrm>
            <a:off x="5989320" y="1874520"/>
            <a:ext cx="5653735" cy="2697480"/>
          </a:xfrm>
          <a:prstGeom prst="roundRect">
            <a:avLst>
              <a:gd name="adj" fmla="val 4746"/>
            </a:avLst>
          </a:prstGeom>
          <a:solidFill>
            <a:srgbClr val="D9E0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057400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remain statistically similar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42032"/>
            <a:ext cx="5013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noise limits how much any one person can move the result — so the output can’t reveal whether you were in it.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474720"/>
            <a:ext cx="5013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</a:t>
            </a:r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privacy-loss budget. Smaller ε → stronger privacy → more noise → less accuracy.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410048" cy="1143000"/>
          </a:xfrm>
          <a:prstGeom prst="roundRect">
            <a:avLst>
              <a:gd name="adj" fmla="val 11200"/>
            </a:avLst>
          </a:prstGeom>
          <a:solidFill>
            <a:srgbClr val="D2E8E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956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 DEFENDS AGAINST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12080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· linkage with outside data · differencing attacks — no matter what the attacker already knows.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33008" y="4846320"/>
            <a:ext cx="5410048" cy="1143000"/>
          </a:xfrm>
          <a:prstGeom prst="roundRect">
            <a:avLst>
              <a:gd name="adj" fmla="val 11200"/>
            </a:avLst>
          </a:prstGeom>
          <a:solidFill>
            <a:srgbClr val="F7D5C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61608" y="4956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 DOES NOT HIDE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61608" y="5212080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truths (“people in this ZIP tend to…”) — that is the point of the analysis, not a leak of you.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DIFFERENTIAL PRIVACY · MECHANICS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Laplace mechanism on one slide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 scaled to how much one person can change the answer (Δ), divided by ε.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counting query: one person changes it by at most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private_count(rows, epsilon):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 = len(rows)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1.0 / epsilon      # scale = Δ / 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 + laplace(0,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private_count(users_in_zip, 1.0)   # error ~ ±1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private_count(users_in_zip, 0.1)   # error ~ ±10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SENSITIVITY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4343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change one person can cause. Bound it by clipping each person’s contribution.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19472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EPSILON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49194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loss. Always ask “ε per what — per query, per day, per user?”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95544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DELTA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5495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chance the guarantee fails (“approximate DP”). Keep it far below 1 / 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5287975" cy="416052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6492240" y="1920240"/>
          <a:ext cx="501365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629400" y="544068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privacy costs accuracy fast below ε = 1.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ML Research, “Learning with Privacy at Scale” (2017)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DIFFERENTIAL PRIVACY · TRUST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noise get added?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DP trusts the collector with raw data. Local DP does not — which is why Apple privatizes on the device.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387188" cy="3063240"/>
          </a:xfrm>
          <a:prstGeom prst="roundRect">
            <a:avLst>
              <a:gd name="adj" fmla="val 4179"/>
            </a:avLst>
          </a:prstGeom>
          <a:solidFill>
            <a:srgbClr val="D9E0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DP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377440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2E4A9E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raw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0" y="2596896"/>
            <a:ext cx="502920" cy="557784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9443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2E4A9E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raw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H="1">
            <a:off x="2286000" y="3154680"/>
            <a:ext cx="502920" cy="9144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11296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2E4A9E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raw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H="1">
            <a:off x="2286000" y="3154680"/>
            <a:ext cx="502920" cy="576072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26060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raw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adds noise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154680"/>
            <a:ext cx="36576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09160" y="2788920"/>
            <a:ext cx="952348" cy="731520"/>
          </a:xfrm>
          <a:prstGeom prst="roundRect">
            <a:avLst>
              <a:gd name="adj" fmla="val 15000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1480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Accurate with far fewer users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3484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Server holds raw data — a breach leaks everything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5868" y="1828800"/>
            <a:ext cx="5387188" cy="3063240"/>
          </a:xfrm>
          <a:prstGeom prst="roundRect">
            <a:avLst>
              <a:gd name="adj" fmla="val 4179"/>
            </a:avLst>
          </a:prstGeom>
          <a:solidFill>
            <a:srgbClr val="D2E8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018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DP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0188" y="2377440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1E6B6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+noise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93228" y="2596896"/>
            <a:ext cx="502920" cy="557784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0188" y="2944368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1E6B6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+noise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7993228" y="3154680"/>
            <a:ext cx="502920" cy="9144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0188" y="3511296"/>
            <a:ext cx="1417320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1E6B6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 +noise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H="1">
            <a:off x="7993228" y="3154680"/>
            <a:ext cx="502920" cy="576072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1868" y="26060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noisy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04908" y="3154680"/>
            <a:ext cx="36576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0416388" y="2788920"/>
            <a:ext cx="952348" cy="731520"/>
          </a:xfrm>
          <a:prstGeom prst="roundRect">
            <a:avLst>
              <a:gd name="adj" fmla="val 15000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30188" y="411480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Server never sees true values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530188" y="443484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Needs many more users for the same accuracy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5387188" cy="896112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77240" y="5120640"/>
            <a:ext cx="49299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 the shuffle model: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anonymized and shuffled before analysis — recovering accuracy with less trust.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55868" y="5120640"/>
            <a:ext cx="5387188" cy="896112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484468" y="5120640"/>
            <a:ext cx="49299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deployment: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DP with sketching algorithms to learn popular emoji, new words, and problem websites in Safari.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DIFFERENTIAL PRIVACY · BUDGETS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budgets compose — every query spends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 queries at ε each and, under basic composition, you have spent up to k·ε. Without accounting, “private” quietly isn’t.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BUDGET  ε = 4.0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9456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· ε 1.0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194560"/>
            <a:ext cx="1143000" cy="777240"/>
          </a:xfrm>
          <a:prstGeom prst="roundRect">
            <a:avLst>
              <a:gd name="adj" fmla="val 7059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· ε 0.5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9456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· ε 1.0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9456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· ε 1.0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194560"/>
            <a:ext cx="1188720" cy="777240"/>
          </a:xfrm>
          <a:prstGeom prst="roundRect">
            <a:avLst>
              <a:gd name="adj" fmla="val 7059"/>
            </a:avLst>
          </a:prstGeom>
          <a:noFill/>
          <a:ln w="15875">
            <a:solidFill>
              <a:srgbClr val="6B6358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left: 0.5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24612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F7D5CB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 asks for ε 1.0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 rot="-480000">
            <a:off x="9144000" y="3200400"/>
            <a:ext cx="1554480" cy="603504"/>
          </a:xfrm>
          <a:prstGeom prst="roundRect">
            <a:avLst>
              <a:gd name="adj" fmla="val 9091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91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ledger that refuses the query is a feature, not an outage.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423410"/>
            <a:ext cx="251460" cy="2514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17320" y="4315968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ledger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937760"/>
            <a:ext cx="2144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spend per dataset — and per person where the design allows.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379394" y="411480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07994" y="4297680"/>
            <a:ext cx="502920" cy="50292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24" y="4423410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248074" y="4315968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contributions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3607994" y="4937760"/>
            <a:ext cx="2144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how many records one person adds per period; it bounds Δ.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210148" y="411480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38748" y="4297680"/>
            <a:ext cx="502920" cy="50292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78" y="4423410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78828" y="4315968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tighter accounting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6438748" y="4937760"/>
            <a:ext cx="2144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composition or Rényi-DP accountants beat plain k·ε for many queries.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9040901" y="4114800"/>
            <a:ext cx="2602154" cy="182880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269501" y="4297680"/>
            <a:ext cx="502920" cy="50292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231" y="4423410"/>
            <a:ext cx="251460" cy="25146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909581" y="4315968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answers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9269501" y="4937760"/>
            <a:ext cx="2144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released results; asking the same question again spends budget again.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SYNTACTIC PRIVACY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k-anonymity — and why it wasn’t enough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record indistinguishable from at least k−1 others on its quasi-identifiers. Then watch the sensitive column.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91440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D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D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D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D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DIAGNOSIS  (sensitive)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940**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30–39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940**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30–39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Asthma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940**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30–39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941**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40–49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941**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40–49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941**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40–49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5836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 groups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 rot="-180000">
            <a:off x="1097280" y="4983480"/>
            <a:ext cx="4754880" cy="502920"/>
          </a:xfrm>
          <a:prstGeom prst="roundRect">
            <a:avLst>
              <a:gd name="adj" fmla="val 10909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 ✓   DIAGNOSIS LEAKED 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1874520"/>
            <a:ext cx="4739335" cy="1051560"/>
          </a:xfrm>
          <a:prstGeom prst="roundRect">
            <a:avLst>
              <a:gd name="adj" fmla="val 1217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32320" y="1984248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k-ANONYMITY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258568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quasi-identifier combination appears at least k times. Defeats simple linkage.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3063240"/>
            <a:ext cx="4739335" cy="1051560"/>
          </a:xfrm>
          <a:prstGeom prst="roundRect">
            <a:avLst>
              <a:gd name="adj" fmla="val 1217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132320" y="3172968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l-DIVERSITY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3447288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holds at least l distinct sensitive values. Defeats the homogeneity attack at left.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03720" y="4251960"/>
            <a:ext cx="4739335" cy="1051560"/>
          </a:xfrm>
          <a:prstGeom prst="roundRect">
            <a:avLst>
              <a:gd name="adj" fmla="val 1217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132320" y="4361688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t-CLOSENESS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4636008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group's sensitive distribution stays close to the overall one. Limits skew-based inference.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66928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DP won: k-anonymity describes one release and breaks under composition and background knowledge. DP's guarantee holds regardless.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ML Research notes that federated learning alone is not a privacy guarantee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FEDERATED LEARNING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training to the data — then add layers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train locally and send updates, not raw data. Updates can still leak, so stack defenses.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83080" y="2286000"/>
            <a:ext cx="1371600" cy="1325880"/>
          </a:xfrm>
          <a:prstGeom prst="line">
            <a:avLst/>
          </a:prstGeom>
          <a:noFill/>
          <a:ln w="25400">
            <a:solidFill>
              <a:srgbClr val="B9A68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H="1">
            <a:off x="3154680" y="2286000"/>
            <a:ext cx="2011680" cy="1325880"/>
          </a:xfrm>
          <a:prstGeom prst="line">
            <a:avLst/>
          </a:prstGeom>
          <a:noFill/>
          <a:ln w="25400">
            <a:solidFill>
              <a:srgbClr val="B9A68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H="1">
            <a:off x="1783080" y="3611880"/>
            <a:ext cx="1371600" cy="1325880"/>
          </a:xfrm>
          <a:prstGeom prst="line">
            <a:avLst/>
          </a:prstGeom>
          <a:noFill/>
          <a:ln w="25400">
            <a:solidFill>
              <a:srgbClr val="B9A68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154680" y="3611880"/>
            <a:ext cx="2011680" cy="1325880"/>
          </a:xfrm>
          <a:prstGeom prst="line">
            <a:avLst/>
          </a:prstGeom>
          <a:noFill/>
          <a:ln w="25400">
            <a:solidFill>
              <a:srgbClr val="B9A68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240280" y="2697480"/>
            <a:ext cx="1828800" cy="1828800"/>
          </a:xfrm>
          <a:prstGeom prst="ellipse">
            <a:avLst/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1920240"/>
            <a:ext cx="219456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stays here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069080" y="1920240"/>
            <a:ext cx="219456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03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75488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stays here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85800" y="4572000"/>
            <a:ext cx="219456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7160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stays here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069080" y="4572000"/>
            <a:ext cx="219456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7548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5488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stays here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1810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LAYERED DEFENSE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675120" y="2121408"/>
            <a:ext cx="713232" cy="713232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7543800" y="2121408"/>
            <a:ext cx="4099255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7726680" y="2176272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7726680" y="2468880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stays on the device; only model updates travel.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675120" y="2990088"/>
            <a:ext cx="713232" cy="71323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7543800" y="2990088"/>
            <a:ext cx="4099255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7726680" y="3044952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aggregation</a:t>
            </a:r>
            <a:endParaRPr lang="en-US" sz="1450" dirty="0"/>
          </a:p>
        </p:txBody>
      </p:sp>
      <p:sp>
        <p:nvSpPr>
          <p:cNvPr id="36" name="Text 30"/>
          <p:cNvSpPr txBox="1"/>
          <p:nvPr/>
        </p:nvSpPr>
        <p:spPr>
          <a:xfrm>
            <a:off x="7726680" y="3337560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sees only the sum of many updates, never one.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6675120" y="3858768"/>
            <a:ext cx="713232" cy="713232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7543800" y="3858768"/>
            <a:ext cx="4099255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Text 33"/>
          <p:cNvSpPr txBox="1"/>
          <p:nvPr/>
        </p:nvSpPr>
        <p:spPr>
          <a:xfrm>
            <a:off x="7726680" y="3913632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450" dirty="0"/>
          </a:p>
        </p:txBody>
      </p:sp>
      <p:sp>
        <p:nvSpPr>
          <p:cNvPr id="40" name="Text 34"/>
          <p:cNvSpPr txBox="1"/>
          <p:nvPr/>
        </p:nvSpPr>
        <p:spPr>
          <a:xfrm>
            <a:off x="7726680" y="4206240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and noise updates to bound any one person’s influence.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6675120" y="4727448"/>
            <a:ext cx="713232" cy="71323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2" name="Shape 36"/>
          <p:cNvSpPr/>
          <p:nvPr/>
        </p:nvSpPr>
        <p:spPr>
          <a:xfrm>
            <a:off x="7543800" y="4727448"/>
            <a:ext cx="4099255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3" name="Text 37"/>
          <p:cNvSpPr txBox="1"/>
          <p:nvPr/>
        </p:nvSpPr>
        <p:spPr>
          <a:xfrm>
            <a:off x="7726680" y="4782312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minimums + deletion</a:t>
            </a:r>
            <a:endParaRPr lang="en-US" sz="1450" dirty="0"/>
          </a:p>
        </p:txBody>
      </p:sp>
      <p:sp>
        <p:nvSpPr>
          <p:cNvPr id="44" name="Text 38"/>
          <p:cNvSpPr txBox="1"/>
          <p:nvPr/>
        </p:nvSpPr>
        <p:spPr>
          <a:xfrm>
            <a:off x="7726680" y="5074920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many participants; discard updates after aggregating.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62356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F7D5CB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updates can still leak — gradient inversion and membership inference are real attacks.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PROTECTING COMPUTATION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parties must compute, but no one should see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PETs: powerful, expensive, and worth knowing exactly when to reach for.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2602154" cy="416052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48256"/>
            <a:ext cx="640080" cy="64008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208276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08760" y="204825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41401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multi-party computation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3099816"/>
            <a:ext cx="2199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split secrets into shares and compute jointly; only the output is revealed.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334256"/>
            <a:ext cx="2199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companies want an overlap count without sharing their lists.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0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00200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0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57400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86000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5413248"/>
            <a:ext cx="21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Network-heavy; complex protocols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79394" y="1847088"/>
            <a:ext cx="2602154" cy="416052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580562" y="2048256"/>
            <a:ext cx="640080" cy="64008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82" y="2208276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339514" y="204825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4339514" y="241401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 encryption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3580562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580562" y="3099816"/>
            <a:ext cx="2199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directly on encrypted data; only the key holder can read the result.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3580562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3580562" y="4334256"/>
            <a:ext cx="2199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must score data it must never be able to read.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3580562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202354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30954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659554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888154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16754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580562" y="5413248"/>
            <a:ext cx="21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orders of magnitude slower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210148" y="1847088"/>
            <a:ext cx="2602154" cy="416052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411316" y="2048256"/>
            <a:ext cx="640080" cy="64008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36" y="2208276"/>
            <a:ext cx="320040" cy="320040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7170268" y="204825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7170268" y="241401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execution / confidential compute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6411316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6411316" y="3099816"/>
            <a:ext cx="2199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Hardware-isolated code the host can't inspect; attestation proves what is running.</a:t>
            </a:r>
            <a:endParaRPr lang="en-US" sz="1250" dirty="0"/>
          </a:p>
        </p:txBody>
      </p:sp>
      <p:sp>
        <p:nvSpPr>
          <p:cNvPr id="50" name="Text 45"/>
          <p:cNvSpPr txBox="1"/>
          <p:nvPr/>
        </p:nvSpPr>
        <p:spPr>
          <a:xfrm>
            <a:off x="6411316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6411316" y="4334256"/>
            <a:ext cx="2199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processing of sensitive data with verifiable code.</a:t>
            </a:r>
            <a:endParaRPr lang="en-US" sz="1250" dirty="0"/>
          </a:p>
        </p:txBody>
      </p:sp>
      <p:sp>
        <p:nvSpPr>
          <p:cNvPr id="52" name="Text 47"/>
          <p:cNvSpPr txBox="1"/>
          <p:nvPr/>
        </p:nvSpPr>
        <p:spPr>
          <a:xfrm>
            <a:off x="6411316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7033108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261708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490308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718908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947508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411316" y="5413248"/>
            <a:ext cx="21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chip vendor; side channels</a:t>
            </a:r>
            <a:endParaRPr lang="en-US" sz="1150" dirty="0"/>
          </a:p>
        </p:txBody>
      </p:sp>
      <p:sp>
        <p:nvSpPr>
          <p:cNvPr id="59" name="Shape 54"/>
          <p:cNvSpPr/>
          <p:nvPr/>
        </p:nvSpPr>
        <p:spPr>
          <a:xfrm>
            <a:off x="9040901" y="1847088"/>
            <a:ext cx="2602154" cy="416052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9242069" y="2048256"/>
            <a:ext cx="640080" cy="64008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089" y="2208276"/>
            <a:ext cx="320040" cy="320040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10001021" y="204825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</a:t>
            </a:r>
            <a:endParaRPr lang="en-US" sz="2400" dirty="0"/>
          </a:p>
        </p:txBody>
      </p:sp>
      <p:sp>
        <p:nvSpPr>
          <p:cNvPr id="63" name="Text 57"/>
          <p:cNvSpPr txBox="1"/>
          <p:nvPr/>
        </p:nvSpPr>
        <p:spPr>
          <a:xfrm>
            <a:off x="10001021" y="2414016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set intersection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9242069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900" dirty="0"/>
          </a:p>
        </p:txBody>
      </p:sp>
      <p:sp>
        <p:nvSpPr>
          <p:cNvPr id="65" name="Text 59"/>
          <p:cNvSpPr txBox="1"/>
          <p:nvPr/>
        </p:nvSpPr>
        <p:spPr>
          <a:xfrm>
            <a:off x="9242069" y="3099816"/>
            <a:ext cx="2199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which items two sets share — and nothing else about either set.</a:t>
            </a:r>
            <a:endParaRPr lang="en-US" sz="1250" dirty="0"/>
          </a:p>
        </p:txBody>
      </p:sp>
      <p:sp>
        <p:nvSpPr>
          <p:cNvPr id="66" name="Text 60"/>
          <p:cNvSpPr txBox="1"/>
          <p:nvPr/>
        </p:nvSpPr>
        <p:spPr>
          <a:xfrm>
            <a:off x="9242069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9242069" y="4334256"/>
            <a:ext cx="2199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discovery; compromised-password checks.</a:t>
            </a:r>
            <a:endParaRPr lang="en-US" sz="1250" dirty="0"/>
          </a:p>
        </p:txBody>
      </p:sp>
      <p:sp>
        <p:nvSpPr>
          <p:cNvPr id="68" name="Text 62"/>
          <p:cNvSpPr txBox="1"/>
          <p:nvPr/>
        </p:nvSpPr>
        <p:spPr>
          <a:xfrm>
            <a:off x="9242069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9863861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0092461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0321061" y="5157216"/>
            <a:ext cx="155448" cy="155448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0549661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0778261" y="5157216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9242069" y="5413248"/>
            <a:ext cx="21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itself still leaks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THREAT MODEL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you protecting the user from?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adversaries imply different controls. Name the adversary before you name the fix.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057949" cy="342900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20414" y="2148840"/>
            <a:ext cx="914400" cy="91440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014" y="23774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85800" y="3200400"/>
            <a:ext cx="178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520440"/>
            <a:ext cx="1783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· theft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5800" y="4160520"/>
            <a:ext cx="1783629" cy="1005840"/>
          </a:xfrm>
          <a:prstGeom prst="roundRect">
            <a:avLst>
              <a:gd name="adj" fmla="val 9091"/>
            </a:avLst>
          </a:prstGeom>
          <a:solidFill>
            <a:srgbClr val="D6452A">
              <a:alpha val="15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160520"/>
            <a:ext cx="16007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isolation, and minimal stored data.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807757" y="1874520"/>
            <a:ext cx="2057949" cy="342900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79531" y="2148840"/>
            <a:ext cx="914400" cy="91440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131" y="23774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44917" y="3200400"/>
            <a:ext cx="178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2944917" y="3520440"/>
            <a:ext cx="1783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over-collection · reuse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2944917" y="4160520"/>
            <a:ext cx="1783629" cy="1005840"/>
          </a:xfrm>
          <a:prstGeom prst="roundRect">
            <a:avLst>
              <a:gd name="adj" fmla="val 9091"/>
            </a:avLst>
          </a:prstGeom>
          <a:solidFill>
            <a:srgbClr val="E39A2D">
              <a:alpha val="15000"/>
            </a:srgbClr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036357" y="4160520"/>
            <a:ext cx="16007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scoped APIs, aggregation, audits.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66873" y="1874520"/>
            <a:ext cx="2057949" cy="342900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638648" y="2148840"/>
            <a:ext cx="914400" cy="91440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37744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204033" y="3200400"/>
            <a:ext cx="178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INSIDER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5204033" y="3520440"/>
            <a:ext cx="1783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or curious access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204033" y="4160520"/>
            <a:ext cx="1783629" cy="1005840"/>
          </a:xfrm>
          <a:prstGeom prst="roundRect">
            <a:avLst>
              <a:gd name="adj" fmla="val 9091"/>
            </a:avLst>
          </a:prstGeom>
          <a:solidFill>
            <a:srgbClr val="7A3B69">
              <a:alpha val="15000"/>
            </a:srgbClr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295473" y="4160520"/>
            <a:ext cx="16007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Need-to-know, access logs, break-glass review.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7325990" y="1874520"/>
            <a:ext cx="2057949" cy="342900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897764" y="2148840"/>
            <a:ext cx="914400" cy="91440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364" y="237744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463150" y="3200400"/>
            <a:ext cx="178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7463150" y="3520440"/>
            <a:ext cx="1783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cross-context linkability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463150" y="4160520"/>
            <a:ext cx="1783629" cy="1005840"/>
          </a:xfrm>
          <a:prstGeom prst="roundRect">
            <a:avLst>
              <a:gd name="adj" fmla="val 9091"/>
            </a:avLst>
          </a:prstGeom>
          <a:solidFill>
            <a:srgbClr val="2E4A9E">
              <a:alpha val="15000"/>
            </a:srgbClr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554590" y="4160520"/>
            <a:ext cx="16007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Partitioning, rotating IDs, fingerprinting defenses.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585107" y="1874520"/>
            <a:ext cx="2057949" cy="3429000"/>
          </a:xfrm>
          <a:prstGeom prst="roundRect">
            <a:avLst>
              <a:gd name="adj" fmla="val 62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10156881" y="2148840"/>
            <a:ext cx="914400" cy="91440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5481" y="2377440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722267" y="3200400"/>
            <a:ext cx="178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YOU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9722267" y="3520440"/>
            <a:ext cx="1783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scope creep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9722267" y="4160520"/>
            <a:ext cx="1783629" cy="1005840"/>
          </a:xfrm>
          <a:prstGeom prst="roundRect">
            <a:avLst>
              <a:gd name="adj" fmla="val 9091"/>
            </a:avLst>
          </a:prstGeom>
          <a:solidFill>
            <a:srgbClr val="1E6B63">
              <a:alpha val="15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9813707" y="4160520"/>
            <a:ext cx="16007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TTLs, purpose enforcement, deletion by default.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question: what can an actor learn or infer — even if the system behaves exactly as designed?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linddun.org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PRIVACY THREAT MODELING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LINDDUN: the STRIDE of privacy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threat-modeling framework from KU Leuven. Walk every category across every element of your data-flow diagram.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items or actions be tied to the same person?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53151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E0662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2153151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262879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262879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learn who the person is?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57661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3757661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867389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3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867389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person unable to deny an action they'd want to?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62172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B8860B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6000" dirty="0"/>
          </a:p>
        </p:txBody>
      </p:sp>
      <p:sp>
        <p:nvSpPr>
          <p:cNvPr id="24" name="Shape 22"/>
          <p:cNvSpPr/>
          <p:nvPr/>
        </p:nvSpPr>
        <p:spPr>
          <a:xfrm>
            <a:off x="5362172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71900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71900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tell that data about a person exists?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66683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6000" dirty="0"/>
          </a:p>
        </p:txBody>
      </p:sp>
      <p:sp>
        <p:nvSpPr>
          <p:cNvPr id="28" name="Shape 26"/>
          <p:cNvSpPr/>
          <p:nvPr/>
        </p:nvSpPr>
        <p:spPr>
          <a:xfrm>
            <a:off x="6966683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076411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disclosure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076411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personal data exposed more than necessary?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71194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6000" dirty="0"/>
          </a:p>
        </p:txBody>
      </p:sp>
      <p:sp>
        <p:nvSpPr>
          <p:cNvPr id="32" name="Shape 30"/>
          <p:cNvSpPr/>
          <p:nvPr/>
        </p:nvSpPr>
        <p:spPr>
          <a:xfrm>
            <a:off x="8571194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680922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Unawareness &amp; unintervenability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680922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users uninformed, or unable to act?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75704" y="1828800"/>
            <a:ext cx="1467351" cy="1234440"/>
          </a:xfrm>
          <a:prstGeom prst="roundRect">
            <a:avLst>
              <a:gd name="adj" fmla="val 8889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6000" dirty="0"/>
          </a:p>
        </p:txBody>
      </p:sp>
      <p:sp>
        <p:nvSpPr>
          <p:cNvPr id="36" name="Shape 34"/>
          <p:cNvSpPr/>
          <p:nvPr/>
        </p:nvSpPr>
        <p:spPr>
          <a:xfrm>
            <a:off x="10175704" y="3200400"/>
            <a:ext cx="1467351" cy="2286000"/>
          </a:xfrm>
          <a:prstGeom prst="roundRect">
            <a:avLst>
              <a:gd name="adj" fmla="val 872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10285432" y="3310128"/>
            <a:ext cx="1247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0285432" y="4023360"/>
            <a:ext cx="1247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violate law, policy, or promise?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6928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7D5CB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it with STRIDE for security — and be ready to say which threat each proposed control actually addresses.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HOW TO THINK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data flow before debating policy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diagram exposes the real problem. Mark the trust boundaries — that is where privacy failures live.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17520" y="1874520"/>
            <a:ext cx="8549640" cy="3429000"/>
          </a:xfrm>
          <a:prstGeom prst="roundRect">
            <a:avLst>
              <a:gd name="adj" fmla="val 4000"/>
            </a:avLst>
          </a:prstGeom>
          <a:solidFill>
            <a:srgbClr val="D9E0F4">
              <a:alpha val="60000"/>
            </a:srgbClr>
          </a:solidFill>
          <a:ln w="19050">
            <a:solidFill>
              <a:srgbClr val="2E4A9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200400" y="1938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SERVERS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286000" cy="3429000"/>
          </a:xfrm>
          <a:prstGeom prst="roundRect">
            <a:avLst>
              <a:gd name="adj" fmla="val 6000"/>
            </a:avLst>
          </a:prstGeom>
          <a:solidFill>
            <a:srgbClr val="FBE3BD">
              <a:alpha val="70000"/>
            </a:srgbClr>
          </a:solidFill>
          <a:ln w="19050">
            <a:solidFill>
              <a:srgbClr val="E39A2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85800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USER'S DEVICE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317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33172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3317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233172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16052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5A5147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60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3P SDK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2715768"/>
            <a:ext cx="64008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2715768"/>
            <a:ext cx="73152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18120" y="2715768"/>
            <a:ext cx="86868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3108960"/>
            <a:ext cx="91" cy="1005840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91640" y="3108960"/>
            <a:ext cx="91" cy="1005840"/>
          </a:xfrm>
          <a:prstGeom prst="line">
            <a:avLst/>
          </a:prstGeom>
          <a:noFill/>
          <a:ln w="25400">
            <a:solidFill>
              <a:srgbClr val="D6452A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965960" y="3246120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 derived?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24612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ID? purpose?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246120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join it?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324612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retention? deletion?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4370832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lands in logs?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02920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phone home?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 rot="-240000">
            <a:off x="7863840" y="4343400"/>
            <a:ext cx="3108960" cy="45720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ARROW = A DECISION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chance to minimize, transform, isolate, aggregate, or delete.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PRODUCT REVIEW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8-question privacy review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feature — even one you have never seen. Each question comes with the red flag to listen for.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029968"/>
            <a:ext cx="475488" cy="475488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12140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9689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 outcome needs data?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0040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might need it later.”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72536" y="184708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55416" y="2029968"/>
            <a:ext cx="475488" cy="475488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49776" y="212140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55416" y="259689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enters the system?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555416" y="320040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full URLs, raw payloads.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6432" y="184708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79312" y="2029968"/>
            <a:ext cx="475488" cy="475488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73672" y="212140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79312" y="259689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linked to a person?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79312" y="320040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ID shared across features.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20327" y="184708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03207" y="2029968"/>
            <a:ext cx="475488" cy="475488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797567" y="212140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03207" y="259689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travel?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203207" y="320040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SDKs, logs, exports.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95020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4133088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422452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70001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or join it?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30352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Warehouse-wide read by default.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72536" y="395020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555416" y="4133088"/>
            <a:ext cx="475488" cy="475488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149776" y="422452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555416" y="470001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raw data remain?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3555416" y="530352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TTL, or “until deleted.”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6432" y="395020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379312" y="4133088"/>
            <a:ext cx="475488" cy="475488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973672" y="422452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MISUSE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79312" y="470001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secondary use is possible?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6379312" y="530352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data readable by ads.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20327" y="3950208"/>
            <a:ext cx="2622728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203207" y="4133088"/>
            <a:ext cx="475488" cy="475488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9797567" y="4224528"/>
            <a:ext cx="170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203207" y="4700016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remove or enforce?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9203207" y="5303520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  </a:t>
            </a:r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that live only in a doc.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OPERATING MODEL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privacy review actually runs inside a company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scale only when most launches are low-risk and self-serve. Spend expert time where the risk is.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74520"/>
            <a:ext cx="1922221" cy="868680"/>
          </a:xfrm>
          <a:prstGeom prst="homePlate">
            <a:avLst/>
          </a:prstGeom>
          <a:solidFill>
            <a:srgbClr val="2E4A9E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at design time: data, purpose, users, vendors.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97709" y="1874520"/>
            <a:ext cx="1922221" cy="868680"/>
          </a:xfrm>
          <a:prstGeom prst="chevron">
            <a:avLst/>
          </a:prstGeom>
          <a:solidFill>
            <a:srgbClr val="7A3B69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3429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580589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from sensitivity × scale × novelty.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46778" y="1874520"/>
            <a:ext cx="1922221" cy="868680"/>
          </a:xfrm>
          <a:prstGeom prst="chevron">
            <a:avLst/>
          </a:prstGeom>
          <a:solidFill>
            <a:srgbClr val="D6452A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2498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29658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diagram, threat model, 8 questions, required changes.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1874520"/>
            <a:ext cx="1922221" cy="868680"/>
          </a:xfrm>
          <a:prstGeom prst="chevron">
            <a:avLst/>
          </a:prstGeom>
          <a:solidFill>
            <a:srgbClr val="E39A2D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1568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78728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code does what the design promised.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944917" y="1874520"/>
            <a:ext cx="1922221" cy="868680"/>
          </a:xfrm>
          <a:prstGeom prst="chevron">
            <a:avLst/>
          </a:prstGeom>
          <a:solidFill>
            <a:srgbClr val="1E6B63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GATE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90637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27797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tied to closed findings — enforced by tooling.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793986" y="1874520"/>
            <a:ext cx="1922221" cy="868680"/>
          </a:xfrm>
          <a:prstGeom prst="chevron">
            <a:avLst/>
          </a:prstGeom>
          <a:solidFill>
            <a:srgbClr val="1C1B19"/>
          </a:solidFill>
          <a:ln/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39706" y="2926080"/>
            <a:ext cx="1711909" cy="1463040"/>
          </a:xfrm>
          <a:prstGeom prst="roundRect">
            <a:avLst>
              <a:gd name="adj" fmla="val 875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976866" y="3035808"/>
            <a:ext cx="14375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Post-launch: logs, access patterns, drift, new joins.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EFFORT TO RISK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3545738" cy="822960"/>
          </a:xfrm>
          <a:prstGeom prst="roundRect">
            <a:avLst>
              <a:gd name="adj" fmla="val 15556"/>
            </a:avLst>
          </a:prstGeom>
          <a:solidFill>
            <a:srgbClr val="D2E8E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98348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 →  </a:t>
            </a:r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checklist + automated checks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22978" y="4983480"/>
            <a:ext cx="3545738" cy="822960"/>
          </a:xfrm>
          <a:prstGeom prst="roundRect">
            <a:avLst>
              <a:gd name="adj" fmla="val 15556"/>
            </a:avLst>
          </a:prstGeom>
          <a:solidFill>
            <a:srgbClr val="FBEDB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51578" y="498348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 →  </a:t>
            </a:r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expert review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097317" y="4983480"/>
            <a:ext cx="3545738" cy="822960"/>
          </a:xfrm>
          <a:prstGeom prst="roundRect">
            <a:avLst>
              <a:gd name="adj" fmla="val 15556"/>
            </a:avLst>
          </a:prstGeom>
          <a:solidFill>
            <a:srgbClr val="F7D5C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25917" y="498348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→  </a:t>
            </a:r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review, threat model, exec sign-off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AUDITING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bugs are usually assumption bugs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said one thing. The code, the logs, and the edge cases said another.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271418" cy="1325880"/>
          </a:xfrm>
          <a:prstGeom prst="roundRect">
            <a:avLst>
              <a:gd name="adj" fmla="val 965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331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happen?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20058" y="18288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460138" y="1828800"/>
            <a:ext cx="3271418" cy="1325880"/>
          </a:xfrm>
          <a:prstGeom prst="roundRect">
            <a:avLst>
              <a:gd name="adj" fmla="val 965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4458" y="19659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4458" y="2331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happens?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731557" y="18288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8371637" y="1828800"/>
            <a:ext cx="3271418" cy="1325880"/>
          </a:xfrm>
          <a:prstGeom prst="roundRect">
            <a:avLst>
              <a:gd name="adj" fmla="val 965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45957" y="19659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ABUSE / EDGE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45957" y="2331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else can happen?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THESE EVERY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95020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4075938"/>
            <a:ext cx="251460" cy="2514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387705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mid-job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1353312" y="419709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started before the opt-out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367964" y="376732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532556" y="395020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286" y="4075938"/>
            <a:ext cx="251460" cy="2514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172636" y="387705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&amp; dead letters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4172636" y="419709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copies nobody deletes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187288" y="376732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351880" y="395020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0" y="4075938"/>
            <a:ext cx="251460" cy="25146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991960" y="387705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logging</a:t>
            </a:r>
            <a:endParaRPr lang="en-US" sz="1350" dirty="0"/>
          </a:p>
        </p:txBody>
      </p:sp>
      <p:sp>
        <p:nvSpPr>
          <p:cNvPr id="37" name="Text 32"/>
          <p:cNvSpPr txBox="1"/>
          <p:nvPr/>
        </p:nvSpPr>
        <p:spPr>
          <a:xfrm>
            <a:off x="6991960" y="419709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place raw data leaks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9006611" y="376732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171203" y="395020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933" y="4075938"/>
            <a:ext cx="251460" cy="25146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811283" y="387705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paths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9811283" y="419709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mode skips the filter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548640" y="477316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713232" y="495604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5081778"/>
            <a:ext cx="251460" cy="25146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353312" y="488289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350" dirty="0"/>
          </a:p>
        </p:txBody>
      </p:sp>
      <p:sp>
        <p:nvSpPr>
          <p:cNvPr id="47" name="Text 40"/>
          <p:cNvSpPr txBox="1"/>
          <p:nvPr/>
        </p:nvSpPr>
        <p:spPr>
          <a:xfrm>
            <a:off x="1353312" y="520293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CSV escapes every control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3367964" y="477316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3532556" y="495604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8286" y="5081778"/>
            <a:ext cx="251460" cy="251460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4172636" y="488289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devices</a:t>
            </a:r>
            <a:endParaRPr lang="en-US" sz="1350" dirty="0"/>
          </a:p>
        </p:txBody>
      </p:sp>
      <p:sp>
        <p:nvSpPr>
          <p:cNvPr id="52" name="Text 44"/>
          <p:cNvSpPr txBox="1"/>
          <p:nvPr/>
        </p:nvSpPr>
        <p:spPr>
          <a:xfrm>
            <a:off x="4172636" y="520293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reveal to others</a:t>
            </a:r>
            <a:endParaRPr lang="en-US" sz="1150" dirty="0"/>
          </a:p>
        </p:txBody>
      </p:sp>
      <p:sp>
        <p:nvSpPr>
          <p:cNvPr id="53" name="Shape 45"/>
          <p:cNvSpPr/>
          <p:nvPr/>
        </p:nvSpPr>
        <p:spPr>
          <a:xfrm>
            <a:off x="6187288" y="477316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6351880" y="495604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610" y="5081778"/>
            <a:ext cx="251460" cy="25146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991960" y="488289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consent</a:t>
            </a:r>
            <a:endParaRPr lang="en-US" sz="1350" dirty="0"/>
          </a:p>
        </p:txBody>
      </p:sp>
      <p:sp>
        <p:nvSpPr>
          <p:cNvPr id="57" name="Text 48"/>
          <p:cNvSpPr txBox="1"/>
          <p:nvPr/>
        </p:nvSpPr>
        <p:spPr>
          <a:xfrm>
            <a:off x="6991960" y="520293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at login, never refreshed</a:t>
            </a:r>
            <a:endParaRPr lang="en-US" sz="1150" dirty="0"/>
          </a:p>
        </p:txBody>
      </p:sp>
      <p:sp>
        <p:nvSpPr>
          <p:cNvPr id="58" name="Shape 49"/>
          <p:cNvSpPr/>
          <p:nvPr/>
        </p:nvSpPr>
        <p:spPr>
          <a:xfrm>
            <a:off x="9006611" y="4773168"/>
            <a:ext cx="2636444" cy="868680"/>
          </a:xfrm>
          <a:prstGeom prst="roundRect">
            <a:avLst>
              <a:gd name="adj" fmla="val 1473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9171203" y="4956048"/>
            <a:ext cx="502920" cy="502920"/>
          </a:xfrm>
          <a:prstGeom prst="ellipse">
            <a:avLst/>
          </a:prstGeom>
          <a:solidFill>
            <a:srgbClr val="F7D5CB"/>
          </a:solidFill>
          <a:ln/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933" y="5081778"/>
            <a:ext cx="251460" cy="251460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9811283" y="4882896"/>
            <a:ext cx="1722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failures</a:t>
            </a:r>
            <a:endParaRPr lang="en-US" sz="1350" dirty="0"/>
          </a:p>
        </p:txBody>
      </p:sp>
      <p:sp>
        <p:nvSpPr>
          <p:cNvPr id="62" name="Text 52"/>
          <p:cNvSpPr txBox="1"/>
          <p:nvPr/>
        </p:nvSpPr>
        <p:spPr>
          <a:xfrm>
            <a:off x="9811283" y="5202936"/>
            <a:ext cx="172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deletes succeeded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ENFORCEMENT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controls from documents into machines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rung up is harder to build and harder to bypass. Rule of thumb: every hard gate should trace back to a real postmortem.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757629" cy="1234440"/>
          </a:xfrm>
          <a:prstGeom prst="rect">
            <a:avLst/>
          </a:prstGeom>
          <a:solidFill>
            <a:srgbClr val="E3D8C4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48920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2120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log PII.”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415997" y="4297680"/>
            <a:ext cx="1757629" cy="1691640"/>
          </a:xfrm>
          <a:prstGeom prst="rect">
            <a:avLst/>
          </a:prstGeom>
          <a:solidFill>
            <a:srgbClr val="F2C14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553157" y="44348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53157" y="47548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reads the design.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553157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283354" y="3840480"/>
            <a:ext cx="1757629" cy="2148840"/>
          </a:xfrm>
          <a:prstGeom prst="rect">
            <a:avLst/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420514" y="39776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CHECK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20514" y="42976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flags PII fields in log calls.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20514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150712" y="3383280"/>
            <a:ext cx="1757629" cy="2606040"/>
          </a:xfrm>
          <a:prstGeom prst="rect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87872" y="35204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GATE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8404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blocked if a sensitive column loses its policy.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87872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018069" y="2926080"/>
            <a:ext cx="1757629" cy="3063240"/>
          </a:xfrm>
          <a:prstGeom prst="rect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155229" y="30632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55229" y="33832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refuses reads without a valid purpose.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155229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885426" y="2468880"/>
            <a:ext cx="1757629" cy="3520440"/>
          </a:xfrm>
          <a:prstGeom prst="rect">
            <a:avLst/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022586" y="2606040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022586" y="2926080"/>
            <a:ext cx="14833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scan: new joins, access spikes, TTL drift.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022586" y="5440680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TO WRITE,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TO IGNORE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 rot="-240000">
            <a:off x="3840480" y="2011680"/>
            <a:ext cx="4937760" cy="45720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GAP: PRE-DEPLOY ≠ RUNTIME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Safari / WebKit tracking-prevention principles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CASE STUDY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suggestions without a browsing diary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product goal, then shrink the data until it hurts — and stop just before that.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387188" cy="1783080"/>
          </a:xfrm>
          <a:prstGeom prst="roundRect">
            <a:avLst>
              <a:gd name="adj" fmla="val 7179"/>
            </a:avLst>
          </a:prstGeom>
          <a:solidFill>
            <a:srgbClr val="F7D5C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A · SERVER-FIRST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286000"/>
            <a:ext cx="4838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full URL + user ID → server keeps history → server ranks suggestions.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3218688"/>
            <a:ext cx="182880" cy="182880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9696" y="3218688"/>
            <a:ext cx="182880" cy="182880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3218688"/>
            <a:ext cx="182880" cy="182880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0048" y="3218688"/>
            <a:ext cx="182880" cy="182880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5224" y="3218688"/>
            <a:ext cx="182880" cy="182880"/>
          </a:xfrm>
          <a:prstGeom prst="ellipse">
            <a:avLst/>
          </a:prstGeom>
          <a:solidFill>
            <a:srgbClr val="D6452A"/>
          </a:solidFill>
          <a:ln w="12700">
            <a:solidFill>
              <a:srgbClr val="D645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5868" y="1828800"/>
            <a:ext cx="5387188" cy="1783080"/>
          </a:xfrm>
          <a:prstGeom prst="roundRect">
            <a:avLst>
              <a:gd name="adj" fmla="val 7179"/>
            </a:avLst>
          </a:prstGeom>
          <a:solidFill>
            <a:srgbClr val="D2E8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0188" y="196596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B · ON-DEVICE FIRST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0188" y="2286000"/>
            <a:ext cx="4838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from local history on the device → send only privatized, thresholded domain counts to learn what is popular.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0188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1748" y="3218688"/>
            <a:ext cx="182880" cy="182880"/>
          </a:xfrm>
          <a:prstGeom prst="ellipse">
            <a:avLst/>
          </a:prstGeom>
          <a:solidFill>
            <a:srgbClr val="1E6B63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6924" y="3218688"/>
            <a:ext cx="182880" cy="182880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2100" y="3218688"/>
            <a:ext cx="182880" cy="182880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7276" y="3218688"/>
            <a:ext cx="182880" cy="182880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2452" y="3218688"/>
            <a:ext cx="182880" cy="182880"/>
          </a:xfrm>
          <a:prstGeom prst="ellipse">
            <a:avLst/>
          </a:prstGeom>
          <a:solidFill>
            <a:srgbClr val="FFFDF8"/>
          </a:solidFill>
          <a:ln w="12700">
            <a:solidFill>
              <a:srgbClr val="1E6B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 rot="-480000">
            <a:off x="9418320" y="3154680"/>
            <a:ext cx="1920240" cy="502920"/>
          </a:xfrm>
          <a:prstGeom prst="roundRect">
            <a:avLst>
              <a:gd name="adj" fmla="val 10909"/>
            </a:avLst>
          </a:prstGeom>
          <a:noFill/>
          <a:ln w="31750">
            <a:solidFill>
              <a:srgbClr val="1E6B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 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THAT SHRINK THE DATA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6052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full URL?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307738" y="416052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query params &amp; fragments?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66837" y="416052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identity at all?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70916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rare domains?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307738" y="470916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DP on the counts?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066837" y="4709160"/>
            <a:ext cx="3576218" cy="438912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raw data how long?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answer: “My first question is whether the server needs a browsing-history database at all.”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Apple Pay privacy &amp; security documentation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CASE STUDY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fraud: keep the signal, shed the identity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zero data. It is the minimum necessary data, with strong separation.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74520"/>
            <a:ext cx="1889699" cy="731520"/>
          </a:xfrm>
          <a:prstGeom prst="roundRect">
            <a:avLst>
              <a:gd name="adj" fmla="val 15000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EVENT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84059" y="2240280"/>
            <a:ext cx="32004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849819" y="1874520"/>
            <a:ext cx="1889699" cy="731520"/>
          </a:xfrm>
          <a:prstGeom prst="roundRect">
            <a:avLst>
              <a:gd name="adj" fmla="val 15000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85238" y="2240280"/>
            <a:ext cx="32004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150998" y="1874520"/>
            <a:ext cx="1889699" cy="731520"/>
          </a:xfrm>
          <a:prstGeom prst="roundRect">
            <a:avLst>
              <a:gd name="adj" fmla="val 15000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86417" y="2240280"/>
            <a:ext cx="32004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452177" y="1874520"/>
            <a:ext cx="1889699" cy="731520"/>
          </a:xfrm>
          <a:prstGeom prst="roundRect">
            <a:avLst>
              <a:gd name="adj" fmla="val 1500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87596" y="2240280"/>
            <a:ext cx="320040" cy="91"/>
          </a:xfrm>
          <a:prstGeom prst="line">
            <a:avLst/>
          </a:prstGeom>
          <a:noFill/>
          <a:ln w="25400">
            <a:solidFill>
              <a:srgbClr val="1C1B1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9753356" y="1874520"/>
            <a:ext cx="1889699" cy="731520"/>
          </a:xfrm>
          <a:prstGeom prst="roundRect">
            <a:avLst>
              <a:gd name="adj" fmla="val 1500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5387188" cy="2240280"/>
          </a:xfrm>
          <a:prstGeom prst="roundRect">
            <a:avLst>
              <a:gd name="adj" fmla="val 5714"/>
            </a:avLst>
          </a:prstGeom>
          <a:solidFill>
            <a:srgbClr val="D9E0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017520"/>
            <a:ext cx="483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QUESTIONS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364992"/>
            <a:ext cx="48385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card and account identifiers at ingestion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identity in a separate, audited vault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feature history to bounded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access: case-based, logged, time-boxed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55868" y="2880360"/>
            <a:ext cx="5387188" cy="2240280"/>
          </a:xfrm>
          <a:prstGeom prst="roundRect">
            <a:avLst>
              <a:gd name="adj" fmla="val 5714"/>
            </a:avLst>
          </a:prstGeom>
          <a:solidFill>
            <a:srgbClr val="D2E8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0188" y="3017520"/>
            <a:ext cx="483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QUESTIONS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30188" y="3364992"/>
            <a:ext cx="48385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signals actually move precision and recall?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fraud loss does each removal cost?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A/B the privacy change and measure it?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we keep for disputes and regulators?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7A3B6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move: separate fraud investigation (rare, audited, identity-bearing) from model training (bulk, tokenized, time-boxed).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Apple Private Cloud Compute security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CASE STUDY 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my inbox with cloud AI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design question in the building: how do you use large models on the most personal data there is?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11680"/>
            <a:ext cx="685800" cy="68580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417320" y="1874520"/>
            <a:ext cx="530352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600200" y="19659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run on the device?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run it there. Nothing leaves.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834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417320" y="3200400"/>
            <a:ext cx="530352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00200" y="32918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not: can the cloud be stateless and verifiable?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attested nodes, no retention, no privileged access, inspectable builds.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417320" y="4526280"/>
            <a:ext cx="530352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600200" y="4617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has to leave?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the needed messages; strip attachments; never train on it.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86600" y="1874520"/>
            <a:ext cx="4556455" cy="3639312"/>
          </a:xfrm>
          <a:prstGeom prst="roundRect">
            <a:avLst>
              <a:gd name="adj" fmla="val 3518"/>
            </a:avLst>
          </a:prstGeom>
          <a:solidFill>
            <a:srgbClr val="1C1B1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60920" y="2029968"/>
            <a:ext cx="4007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TO STATE OUT LOUD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3957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395728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retention after the response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712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2871216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for model training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33467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346704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privileged runtime access for staff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3822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3822192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software images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429768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routed so no user can be targeted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47731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4773168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indicator and an off switch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1500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D9E0F4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PCC's published goals: stateless computation · enforceable guarantees · no privileged runtime access · non-targetability · verifiable transparency.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914400"/>
            <a:ext cx="4754880" cy="47548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9377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 · FIELD MODULE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2344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monster: the tracking machine.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3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device IDs, fingerprints and identity graphs — how one person gets stitched together across every site, app, and screen.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MODULE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091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 STACK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2276856" y="47091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 ANATOMY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005072" y="4709160"/>
            <a:ext cx="208026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THIRD-PARTY COOKIES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166360"/>
            <a:ext cx="188823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 SYNC + RTB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564892" y="5166360"/>
            <a:ext cx="208026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CROSS-DEVICE GRAPHS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773168" y="51663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FINGERPRINTING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01384" y="51663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WORKAROUNDS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623560"/>
            <a:ext cx="64008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316736" y="5623560"/>
            <a:ext cx="54406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988820" y="56235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5623560"/>
            <a:ext cx="169621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2026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253228" y="56235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FILES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597396" y="5623560"/>
            <a:ext cx="73609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4EDE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D6452A"/>
          </a:solidFill>
          <a:ln w="15875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D6452A"/>
          </a:solidFill>
          <a:ln w="15875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D6452A"/>
          </a:solidFill>
          <a:ln w="15875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noFill/>
          <a:ln w="15875">
            <a:solidFill>
              <a:srgbClr val="F4ED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THE STACK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ways to say “it’s the same person again”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should be able to name every one — and the control that answers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29968"/>
            <a:ext cx="566928" cy="56692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71700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44752" y="2029968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 &amp; STORAGE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724912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ID saved in the browser and read back on every visit.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429000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· 3P blocking · expiry caps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79394" y="1828800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80562" y="2029968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294" y="21717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275506" y="2029968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AD IDs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580562" y="2724912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IDFA on iOS, GAID on Android: one ID shared by every app on the phone.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580562" y="3429000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prompt · zeroed IDs · per-vendor IDs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10148" y="1828800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11316" y="2029968"/>
            <a:ext cx="566928" cy="56692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171700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106260" y="2029968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FINGERPRINTS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6411316" y="2724912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Fonts, GPU, screen, audio and time zone combined into a stable signature.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411316" y="3429000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· uniform values · blocking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040901" y="1828800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42069" y="2029968"/>
            <a:ext cx="566928" cy="56692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2171700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937013" y="2029968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&amp; HASHED EMAIL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9242069" y="2724912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email, hashed, becomes the same key on every site you sign in to.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242069" y="3429000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addresses · consent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48640" y="4050792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49808" y="4251960"/>
            <a:ext cx="566928" cy="56692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393692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444752" y="425196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ADDRESS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749808" y="4946904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 household and stable for days — a free cross-device join key.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749808" y="5650992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Relay · coarsening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3379394" y="4050792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580562" y="4251960"/>
            <a:ext cx="566928" cy="56692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294" y="4393692"/>
            <a:ext cx="283464" cy="28346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275506" y="425196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DECORATION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3580562" y="4946904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IDs appended to URLs carry identity from one site to the next.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3580562" y="5650992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known parameters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210148" y="4050792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411316" y="4251960"/>
            <a:ext cx="566928" cy="56692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48" y="4393692"/>
            <a:ext cx="283464" cy="28346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106260" y="425196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SDKs &amp; PIXELS</a:t>
            </a:r>
            <a:endParaRPr lang="en-US" sz="1150" dirty="0"/>
          </a:p>
        </p:txBody>
      </p:sp>
      <p:sp>
        <p:nvSpPr>
          <p:cNvPr id="51" name="Text 42"/>
          <p:cNvSpPr txBox="1"/>
          <p:nvPr/>
        </p:nvSpPr>
        <p:spPr>
          <a:xfrm>
            <a:off x="6411316" y="4946904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code inside apps and pages that reports events back home.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6411316" y="5650992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inventory · privacy manifests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9040901" y="4050792"/>
            <a:ext cx="2602154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242069" y="4251960"/>
            <a:ext cx="566928" cy="56692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3801" y="4393692"/>
            <a:ext cx="283464" cy="283464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937013" y="425196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SERVER-SIDE</a:t>
            </a:r>
            <a:endParaRPr lang="en-US" sz="1150" dirty="0"/>
          </a:p>
        </p:txBody>
      </p:sp>
      <p:sp>
        <p:nvSpPr>
          <p:cNvPr id="57" name="Text 47"/>
          <p:cNvSpPr txBox="1"/>
          <p:nvPr/>
        </p:nvSpPr>
        <p:spPr>
          <a:xfrm>
            <a:off x="9242069" y="4946904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forwarded server-to-server, invisible to every browser defense.</a:t>
            </a:r>
            <a:endParaRPr lang="en-US" sz="1300" dirty="0"/>
          </a:p>
        </p:txBody>
      </p:sp>
      <p:sp>
        <p:nvSpPr>
          <p:cNvPr id="58" name="Text 48"/>
          <p:cNvSpPr txBox="1"/>
          <p:nvPr/>
        </p:nvSpPr>
        <p:spPr>
          <a:xfrm>
            <a:off x="9242069" y="5650992"/>
            <a:ext cx="219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COUNTERED BY  </a:t>
            </a:r>
            <a:pPr indent="0" marL="0">
              <a:buNone/>
            </a:pPr>
            <a:r>
              <a:rPr lang="en-US" sz="11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at source · contracts · audits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 behavior per MDN / RFC 6265bis; 400-day lifetime cap as enforced by Chrome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COOKIE ANATOMY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cookie attribute is a privacy decision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cookie is a name, a value, and rules about who gets it back. The rules are where the privacy lives.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4846320" cy="2743200"/>
          </a:xfrm>
          <a:prstGeom prst="roundRect">
            <a:avLst>
              <a:gd name="adj" fmla="val 4000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3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Set-Cookie: </a:t>
            </a:r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uid=8f3a91c2e7;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Domain=.tracker.example;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Path=/;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Max-Age=34560000;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Secure; HttpOnly;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SameSite=None;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D1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D2E8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8737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FIRST-PARTY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1480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site in your address bar. Remembers you on that one site.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63240" y="475488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7D5C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46120" y="48737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THIRD-PARTY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51480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a domain embedded in the page. Recognizes you on every site that embeds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0" y="1828800"/>
            <a:ext cx="5973775" cy="768096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33872" y="2029968"/>
            <a:ext cx="1783080" cy="36576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1828800"/>
            <a:ext cx="3687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sites get the cookie back. A leading dot shares it with every subdomain.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2706624"/>
            <a:ext cx="5973775" cy="768096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833872" y="2907792"/>
            <a:ext cx="1783080" cy="36576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2706624"/>
            <a:ext cx="3687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34,560,000 seconds is 400 days — the longest Chrome allows. Lifetime is exposure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3584448"/>
            <a:ext cx="5973775" cy="768096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833872" y="3785616"/>
            <a:ext cx="1783080" cy="36576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6B6358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· HttpOnly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584448"/>
            <a:ext cx="3687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not privacy: HTTPS only, hidden from page scripts. The ID still travels.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4462272"/>
            <a:ext cx="5973775" cy="768096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833872" y="4663440"/>
            <a:ext cx="1783080" cy="36576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SameSite=None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4462272"/>
            <a:ext cx="3687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on cross-site requests. Third-party tracking needs exactly this setting.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5340096"/>
            <a:ext cx="5973775" cy="768096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833872" y="5541264"/>
            <a:ext cx="1783080" cy="36576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1E6B6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Partitioned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5340096"/>
            <a:ext cx="3687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CHIPS: the embed gets a separate cookie jar for each top-level site — no cross-site join.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Illustrative: sites, ID, and inferences are invented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THE REAL MONSTER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third-party cookies are the real monster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tracker embedded on thousands of sites reads the same ID everywhere — a browsing diary nobody agreed to keep.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31720" y="2249424"/>
            <a:ext cx="1417320" cy="1773936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331720" y="4014216"/>
            <a:ext cx="1417320" cy="9144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H="1">
            <a:off x="2331720" y="4023360"/>
            <a:ext cx="1417320" cy="1746504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H="1">
            <a:off x="3749040" y="2249424"/>
            <a:ext cx="1463040" cy="1773936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H="1">
            <a:off x="3749040" y="4014216"/>
            <a:ext cx="1463040" cy="9144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49040" y="4023360"/>
            <a:ext cx="1463040" cy="1746504"/>
          </a:xfrm>
          <a:prstGeom prst="line">
            <a:avLst/>
          </a:prstGeom>
          <a:noFill/>
          <a:ln w="22225">
            <a:solidFill>
              <a:srgbClr val="D6452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926080" y="3200400"/>
            <a:ext cx="1645920" cy="1645920"/>
          </a:xfrm>
          <a:prstGeom prst="ellipse">
            <a:avLst/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97180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tracker.example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uid=8f3a…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1874520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93976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78992" y="1929384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 election story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639312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58768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78992" y="3694176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fertility FAQ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5394960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14416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78992" y="5449824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pharmacy.example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prenatal vitamins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212080" y="1874520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093976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742432" y="1929384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dating.example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 profile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212080" y="3639312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85876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742432" y="3694176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during work hours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5212080" y="5394960"/>
            <a:ext cx="1783080" cy="749808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5614416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742432" y="5449824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loans.example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payday-loan rates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7360920" y="1828800"/>
            <a:ext cx="4282135" cy="2377440"/>
          </a:xfrm>
          <a:prstGeom prst="roundRect">
            <a:avLst>
              <a:gd name="adj" fmla="val 4615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TRACKER NOW KNOWS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       8f3a91c2e7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interests  politics, fertility,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prenatal, dating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life_event "likely pregnant"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job_status "quietly looking"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   "credit-stressed"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360920" y="4370832"/>
            <a:ext cx="4282135" cy="548640"/>
          </a:xfrm>
          <a:prstGeom prst="roundRect">
            <a:avLst>
              <a:gd name="adj" fmla="val 23333"/>
            </a:avLst>
          </a:prstGeom>
          <a:solidFill>
            <a:srgbClr val="F7D5CB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7525512" y="43708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INVISIBLE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8732520" y="4370832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never visited tracker.example and never saw its notice.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7360920" y="5010912"/>
            <a:ext cx="4282135" cy="548640"/>
          </a:xfrm>
          <a:prstGeom prst="roundRect">
            <a:avLst>
              <a:gd name="adj" fmla="val 23333"/>
            </a:avLst>
          </a:prstGeom>
          <a:solidFill>
            <a:srgbClr val="F7D5CB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7525512" y="501091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endParaRPr lang="en-US" sz="1050" dirty="0"/>
          </a:p>
        </p:txBody>
      </p:sp>
      <p:sp>
        <p:nvSpPr>
          <p:cNvPr id="43" name="Text 35"/>
          <p:cNvSpPr txBox="1"/>
          <p:nvPr/>
        </p:nvSpPr>
        <p:spPr>
          <a:xfrm>
            <a:off x="8732520" y="5010912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for up to 400 days, on every site that embeds the tag.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7360920" y="5650992"/>
            <a:ext cx="4282135" cy="548640"/>
          </a:xfrm>
          <a:prstGeom prst="roundRect">
            <a:avLst>
              <a:gd name="adj" fmla="val 23333"/>
            </a:avLst>
          </a:prstGeom>
          <a:solidFill>
            <a:srgbClr val="F7D5CB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7525512" y="56509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RESOLD</a:t>
            </a:r>
            <a:endParaRPr lang="en-US" sz="1050" dirty="0"/>
          </a:p>
        </p:txBody>
      </p:sp>
      <p:sp>
        <p:nvSpPr>
          <p:cNvPr id="46" name="Text 38"/>
          <p:cNvSpPr txBox="1"/>
          <p:nvPr/>
        </p:nvSpPr>
        <p:spPr>
          <a:xfrm>
            <a:off x="8732520" y="5650992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feeds ad auctions and data brokers downstream.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Simplified OpenRTB-style bid request; field values invented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COOKIE SYNC + RTB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syncing and the bidstream: how your ID spreads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can't read each other's cookies — so they swap IDs through redirects, then broadcast you in every ad auction.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53357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53357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01168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PAGE LOADS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04288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news.example embeds an ad exchange tag. The exchange reads its cookie: ex_id = A17.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37078" y="2395728"/>
            <a:ext cx="219456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2254" y="1828800"/>
            <a:ext cx="253357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02254" y="1828800"/>
            <a:ext cx="2533574" cy="91440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85134" y="201168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SYNC PIXEL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85134" y="2304288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redirects the browser to dsp.example/sync?partner_uid=A17.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90692" y="2395728"/>
            <a:ext cx="219456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5868" y="1828800"/>
            <a:ext cx="253357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5868" y="1828800"/>
            <a:ext cx="2533574" cy="91440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8748" y="201168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MATCH TABLE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38748" y="2304288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DSP reads its own cookie, dsp_id = Z90, and stores A17 ↔ Z90.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44305" y="2395728"/>
            <a:ext cx="219456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6" name="Shape 24"/>
          <p:cNvSpPr/>
          <p:nvPr/>
        </p:nvSpPr>
        <p:spPr>
          <a:xfrm>
            <a:off x="9109481" y="1828800"/>
            <a:ext cx="253357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09481" y="1828800"/>
            <a:ext cx="2533574" cy="91440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92361" y="201168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NOW LINKED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92361" y="2304288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say “user A17” and both know who. Repeat with dozens of partners.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474720"/>
            <a:ext cx="6309360" cy="2194560"/>
          </a:xfrm>
          <a:prstGeom prst="roundRect">
            <a:avLst>
              <a:gd name="adj" fmla="val 5000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REQUEST  →  sent to every bidder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"site":   {"page": "clinic.example/fertility"},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"device": {"ip": "203.0.113.x", "ua": "…iPhone…",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"geo": {"lat": 40.71, "lon": -74.00}},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"user":   {"id": "A17", "buyeruid": "Z90"},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"imp":    [{"banner": {"w": 300, "h": 250}}]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3474720"/>
            <a:ext cx="4556455" cy="2194560"/>
          </a:xfrm>
          <a:prstGeom prst="roundRect">
            <a:avLst>
              <a:gd name="adj" fmla="val 5833"/>
            </a:avLst>
          </a:prstGeom>
          <a:solidFill>
            <a:srgbClr val="F7D5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0" y="3611880"/>
            <a:ext cx="4099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PRIVACY PROBLEM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3913632"/>
            <a:ext cx="4099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bidder receives the request — winners and losers alike. One page view can broadcast the URL, location, and IDs to many companies in milliseconds.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4956048"/>
            <a:ext cx="4099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bidders keep what they saw. Nothing technical makes them forget.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rule: anything placed in a bid request should be treated as disclosed to third parties.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CROSS-DEVICE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Cross-device graphs stitch every screen into one person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cookies on one device and nothing resets. The graph re-links you from the others.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63040" y="2194560"/>
            <a:ext cx="2148840" cy="1828800"/>
          </a:xfrm>
          <a:prstGeom prst="line">
            <a:avLst/>
          </a:prstGeom>
          <a:noFill/>
          <a:ln w="25400">
            <a:solidFill>
              <a:srgbClr val="D645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3611880" y="2194560"/>
            <a:ext cx="2148840" cy="1828800"/>
          </a:xfrm>
          <a:prstGeom prst="line">
            <a:avLst/>
          </a:prstGeom>
          <a:noFill/>
          <a:ln w="25400">
            <a:solidFill>
              <a:srgbClr val="D645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463040" y="4023360"/>
            <a:ext cx="2148840" cy="1783080"/>
          </a:xfrm>
          <a:prstGeom prst="line">
            <a:avLst/>
          </a:prstGeom>
          <a:noFill/>
          <a:ln w="25400">
            <a:solidFill>
              <a:srgbClr val="D64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4023360"/>
            <a:ext cx="2148840" cy="1783080"/>
          </a:xfrm>
          <a:prstGeom prst="line">
            <a:avLst/>
          </a:prstGeom>
          <a:noFill/>
          <a:ln w="25400">
            <a:solidFill>
              <a:srgbClr val="D645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154680"/>
            <a:ext cx="1737360" cy="1737360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364992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788920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PERSON-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ID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182880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168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70432" y="1828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PHONE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2788920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FFDF8"/>
          </a:solidFill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 · hashed email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46320" y="182880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0116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68112" y="1828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LAPTOP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2788920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FFDF8"/>
          </a:solidFill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home Wi-Fi + timing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544068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2356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70432" y="5440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LIVING-ROOM TV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" y="4937760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FFDF8"/>
          </a:solidFill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home IP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846320" y="544068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6235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68112" y="5440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KID'S TABLET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4937760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FFDF8"/>
          </a:solidFill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every night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178040" y="1828800"/>
            <a:ext cx="4465015" cy="1426464"/>
          </a:xfrm>
          <a:prstGeom prst="roundRect">
            <a:avLst>
              <a:gd name="adj" fmla="val 8974"/>
            </a:avLst>
          </a:prstGeom>
          <a:solidFill>
            <a:srgbClr val="D9E0F4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406640" y="1956816"/>
            <a:ext cx="4007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7406640" y="2231136"/>
            <a:ext cx="4007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matches: the same login, email, phone number, or loyalty ID seen on two devices.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406640" y="2834640"/>
            <a:ext cx="4007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— requires a sign-in somewhere.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178040" y="3401568"/>
            <a:ext cx="4465015" cy="1426464"/>
          </a:xfrm>
          <a:prstGeom prst="roundRect">
            <a:avLst>
              <a:gd name="adj" fmla="val 8974"/>
            </a:avLst>
          </a:prstGeom>
          <a:solidFill>
            <a:srgbClr val="EBD7E5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7406640" y="3529584"/>
            <a:ext cx="4007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PROBABILISTIC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7406640" y="3803904"/>
            <a:ext cx="4007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guesses from shared IP, Wi-Fi, location patterns, timing, and device traits.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7406640" y="4407408"/>
            <a:ext cx="4007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Fuzzier — works with no login, and quietly pulls in the whole household.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178040" y="5029200"/>
            <a:ext cx="4465015" cy="1143000"/>
          </a:xfrm>
          <a:prstGeom prst="roundRect">
            <a:avLst>
              <a:gd name="adj" fmla="val 8000"/>
            </a:avLst>
          </a:prstGeom>
          <a:solidFill>
            <a:srgbClr val="1C1B1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GRAPH  </a:t>
            </a:r>
            <a:pPr indent="0" marL="0">
              <a:buNone/>
            </a:pPr>
            <a:r>
              <a:rPr lang="en-US" sz="13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that says “these eleven IDs are one person.” It is the core product data brokers sell.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See: FTC Staff Report, Cross-Device Tracking (2017)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CROSS-DEVICE HARMS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cross-device insight is a threat, not a convenience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devices moves information across contexts people deliberately keep apart.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57400"/>
            <a:ext cx="603504" cy="603504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208276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2057400"/>
            <a:ext cx="235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COLLAPSE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798064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on your personal phone shapes the ads on your work laptop — in front of colleagues.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22978" y="182880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51578" y="2057400"/>
            <a:ext cx="603504" cy="603504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454" y="2208276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28818" y="2057400"/>
            <a:ext cx="235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 LEAKAGE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51578" y="2798064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IP ties family members together. One person's health or gift searches surface on the family TV.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97317" y="182880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25917" y="2057400"/>
            <a:ext cx="603504" cy="603504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793" y="220827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03157" y="2057400"/>
            <a:ext cx="235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325917" y="2798064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cookies, reset the ad ID, go private — the graph re-links you from any device it still knows.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02336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4251960"/>
            <a:ext cx="603504" cy="603504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402836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54480" y="4251960"/>
            <a:ext cx="235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 TRANSFER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4992624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device reveals — pregnancy, a job hunt, debt — follows you to every screen you own.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322978" y="402336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51578" y="4251960"/>
            <a:ext cx="603504" cy="603504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454" y="4402836"/>
            <a:ext cx="301752" cy="30175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28818" y="4251960"/>
            <a:ext cx="235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RE-IDENTIFICATION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51578" y="4992624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logged-out “anonymous” device becomes named the moment it joins a graph that holds an email.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097317" y="4023360"/>
            <a:ext cx="3545738" cy="2011680"/>
          </a:xfrm>
          <a:prstGeom prst="roundRect">
            <a:avLst>
              <a:gd name="adj" fmla="val 6364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8353349" y="4224528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IN EVERY REVIEW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8353349" y="4553712"/>
            <a:ext cx="3033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this signal were joined with everything the company — and its partners — already know, what could they learn?</a:t>
            </a:r>
            <a:endParaRPr lang="en-US" sz="15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P. Eckersley, How Unique Is Your Web Browser? (2010) · WebKit blog · Apple iOS 26 announcement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FINGERPRINTING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Fingerprinting: tracking with nothing stored at all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cookie to clear, no prompt to deny — just enough small facts to make one browser unique.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017520" cy="4343400"/>
          </a:xfrm>
          <a:prstGeom prst="roundRect">
            <a:avLst>
              <a:gd name="adj" fmla="val 4242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BD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bits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it takes to single out one person among 8 billion — because 2³³ ≈ 8.6 billion.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2062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B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adds a few bits. Combine enough of them and the browser is unique — and stays unique after you clear everything.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IDENTIFYING POWER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214884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9352" y="2148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fonts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228600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28600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28600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65176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2651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&amp; WebGL rendering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278892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78892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278892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315468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59352" y="31546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agent &amp; platform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12280" y="329184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329184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29184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94760" y="365760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3657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 &amp; pixel ratio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12280" y="379476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79476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379476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4760" y="416052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59352" y="41605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12280" y="429768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429768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9480" y="429768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94760" y="466344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59352" y="46634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settings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12280" y="480060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480060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480060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94760" y="516636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59352" y="51663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&amp; language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12280" y="530352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40880" y="530352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530352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94760" y="5669280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59352" y="56692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 &amp; memory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12280" y="5806440"/>
            <a:ext cx="155448" cy="155448"/>
          </a:xfrm>
          <a:prstGeom prst="ellipse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580644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9480" y="5806440"/>
            <a:ext cx="155448" cy="155448"/>
          </a:xfrm>
          <a:prstGeom prst="ellipse">
            <a:avLst/>
          </a:prstGeom>
          <a:solidFill>
            <a:srgbClr val="FFFDF8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94760" y="61813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●●● high · ●●○ medium · ●○○ low (relative)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909560" y="1828800"/>
            <a:ext cx="3733495" cy="434340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8138160" y="1993392"/>
            <a:ext cx="3276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PLATFORMS FIGHT BACK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138160" y="2404872"/>
            <a:ext cx="384048" cy="384048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659368" y="235915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everyone look alike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8659368" y="2633472"/>
            <a:ext cx="2773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distinct values means fewer bits per signal.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138160" y="3191256"/>
            <a:ext cx="384048" cy="384048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659368" y="31455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</a:t>
            </a:r>
            <a:endParaRPr lang="en-US" sz="1350" dirty="0"/>
          </a:p>
        </p:txBody>
      </p:sp>
      <p:sp>
        <p:nvSpPr>
          <p:cNvPr id="66" name="Text 64"/>
          <p:cNvSpPr txBox="1"/>
          <p:nvPr/>
        </p:nvSpPr>
        <p:spPr>
          <a:xfrm>
            <a:off x="8659368" y="3419856"/>
            <a:ext cx="2773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perturbs canvas, WebGL, and audio readback so the signature is unstable.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8138160" y="3977640"/>
            <a:ext cx="384048" cy="384048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659368" y="39319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fingerprinter</a:t>
            </a:r>
            <a:endParaRPr lang="en-US" sz="1350" dirty="0"/>
          </a:p>
        </p:txBody>
      </p:sp>
      <p:sp>
        <p:nvSpPr>
          <p:cNvPr id="69" name="Text 67"/>
          <p:cNvSpPr txBox="1"/>
          <p:nvPr/>
        </p:nvSpPr>
        <p:spPr>
          <a:xfrm>
            <a:off x="8659368" y="4206240"/>
            <a:ext cx="2773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known fingerprinting scripts at the network layer.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8138160" y="4764024"/>
            <a:ext cx="384048" cy="384048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8659368" y="4718304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it by policy</a:t>
            </a:r>
            <a:endParaRPr lang="en-US" sz="1350" dirty="0"/>
          </a:p>
        </p:txBody>
      </p:sp>
      <p:sp>
        <p:nvSpPr>
          <p:cNvPr id="72" name="Text 70"/>
          <p:cNvSpPr txBox="1"/>
          <p:nvPr/>
        </p:nvSpPr>
        <p:spPr>
          <a:xfrm>
            <a:off x="8659368" y="4992624"/>
            <a:ext cx="2773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App Store rules forbid fingerprinting — even when the user allows tracking.</a:t>
            </a: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8092440" y="5532120"/>
            <a:ext cx="3367735" cy="457200"/>
          </a:xfrm>
          <a:prstGeom prst="roundRect">
            <a:avLst>
              <a:gd name="adj" fmla="val 24000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26: Advanced Fingerprinting Protection on for all browsing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Defenses shown are examples; coverage differs by browser and mode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WORKAROUNDS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cookies are blocked, trackers adapt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one technique and the industry routes around it. Learn the workarounds so you can spot them in a design doc.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COUNTER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21408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76856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70432" y="21214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 cloaking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29000" y="2121408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84448" y="21214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tracker hides behind a first-party subdomain (metrics.shop.example → tracker).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909560" y="2121408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65008" y="2121408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caps cookies set this way to 7 days; blocklists uncloak the CNAME.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816352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70432" y="28163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decoration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429000" y="2816352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84448" y="281635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IDs such as gclid or fbclid ride in the URL to the next site.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909560" y="2816352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65008" y="2816352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tracking protection strips known parameters.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48640" y="3511296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66744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70432" y="35112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tracking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429000" y="3511296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584448" y="35112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redirect through the tracker's domain lets it set a first-party cookie.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7909560" y="3511296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065008" y="3511296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purge storage for redirect-only domains.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548640" y="4206240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61688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170432" y="4206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forwarding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3429000" y="4206240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3584448" y="42062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sent server-to-server through “conversions APIs.”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7909560" y="4206240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065008" y="4206240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browsers — needs consent checks, contracts, and audits.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548640" y="4901184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56632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170432" y="49011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Supercookies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3429000" y="4901184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3584448" y="490118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hidden in cache entries, ETags, or HSTS flags reappear after clearing.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7909560" y="4901184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8065008" y="4901184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and storage partitioned per top-level site.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548640" y="5596128"/>
            <a:ext cx="2743200" cy="603504"/>
          </a:xfrm>
          <a:prstGeom prst="roundRect">
            <a:avLst>
              <a:gd name="adj" fmla="val 21212"/>
            </a:avLst>
          </a:prstGeom>
          <a:solidFill>
            <a:srgbClr val="F7D5CB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51576"/>
            <a:ext cx="292608" cy="292608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170432" y="55961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pixels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3429000" y="5596128"/>
            <a:ext cx="4343400" cy="603504"/>
          </a:xfrm>
          <a:prstGeom prst="roundRect">
            <a:avLst>
              <a:gd name="adj" fmla="val 21212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3584448" y="55961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1×1 image records when, where, and whether you opened a message.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7909560" y="5596128"/>
            <a:ext cx="3733495" cy="603504"/>
          </a:xfrm>
          <a:prstGeom prst="roundRect">
            <a:avLst>
              <a:gd name="adj" fmla="val 21212"/>
            </a:avLst>
          </a:prstGeom>
          <a:solidFill>
            <a:srgbClr val="D2E8E1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8065008" y="5596128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Privacy Protection preloads content through relays.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developer documentation (AdSupport, AppTrackingTransparency) · Google Play advertising ID help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IDFA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IDFA: the phone's advertising license plate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identifier, readable by every app on the device — until Apple put a permission prompt in front of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58082" y="2148840"/>
            <a:ext cx="8875532" cy="91"/>
          </a:xfrm>
          <a:prstGeom prst="line">
            <a:avLst/>
          </a:prstGeom>
          <a:noFill/>
          <a:ln w="38100">
            <a:solidFill>
              <a:srgbClr val="D6C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0066" y="2020824"/>
            <a:ext cx="256032" cy="256032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2242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2242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3954" y="265176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IDFA replaces the hardware UDID for advertising. Users can reset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8949" y="2020824"/>
            <a:ext cx="256032" cy="256032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71125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71125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10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52837" y="265176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Ad Tracking on → apps receive an all-zero IDFA.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67832" y="2020824"/>
            <a:ext cx="256032" cy="256032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90008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90008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WWDC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71720" y="265176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Tracking Transparency announced for iOS 14.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6715" y="2020824"/>
            <a:ext cx="256032" cy="256032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08891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08891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14.5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90603" y="265176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enforced: apps must ask before any cross-company tracking.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05598" y="2020824"/>
            <a:ext cx="256032" cy="256032"/>
          </a:xfrm>
          <a:prstGeom prst="ellipse">
            <a:avLst/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527774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2021–22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527774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12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509486" y="265176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Google advertising ID returns zeros to apps.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20440"/>
            <a:ext cx="5760720" cy="2651760"/>
          </a:xfrm>
          <a:prstGeom prst="roundRect">
            <a:avLst>
              <a:gd name="adj" fmla="val 4138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AppTrackingTransparency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A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AdSupport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ATTrackingManager.requestTrackingAuthorization { status 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idfa = ASIdentifierManager.shared()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.advertisingIdentifier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D1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.authorized  → a real, resettable UUID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9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.denied      → 00000000-0000-0000-0000-000000000000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3520440"/>
            <a:ext cx="5105095" cy="566928"/>
          </a:xfrm>
          <a:prstGeom prst="roundRect">
            <a:avLst>
              <a:gd name="adj" fmla="val 2258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675120" y="3639312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352044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on the device · resettable · needs ATT permission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4178808"/>
            <a:ext cx="5105095" cy="566928"/>
          </a:xfrm>
          <a:prstGeom prst="roundRect">
            <a:avLst>
              <a:gd name="adj" fmla="val 2258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675120" y="4297680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IDFV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178808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developer's apps only · no prompt · can't be used to track across companies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4837176"/>
            <a:ext cx="5105095" cy="566928"/>
          </a:xfrm>
          <a:prstGeom prst="roundRect">
            <a:avLst>
              <a:gd name="adj" fmla="val 2258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675120" y="4956048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GAID / AAID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4837176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equivalent · user can reset or delete · zeros after deletion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5532120"/>
            <a:ext cx="5105095" cy="640080"/>
          </a:xfrm>
          <a:prstGeom prst="roundRect">
            <a:avLst>
              <a:gd name="adj" fmla="val 14286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MATTERED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 IDs became the join key for location brokers: ad ID + precise GPS = a person’s daily path. See the case files, p. 63.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Paraphrased from Apple’s App Store User Privacy &amp; Data Use guidance — check the current text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ATT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Tracking Transparency: what counts as tracking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defines tracking by what you link, not what you collect — and the rules apply with or without the IDFA.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1488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= linking user or device data from your app with other companies' data for targeted ads or ad measurement — or sharing it with a data broker.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545738" cy="3154680"/>
          </a:xfrm>
          <a:prstGeom prst="roundRect">
            <a:avLst>
              <a:gd name="adj" fmla="val 4058"/>
            </a:avLst>
          </a:prstGeom>
          <a:solidFill>
            <a:srgbClr val="F7D5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TRACKING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520440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ads with data bought from a broker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178808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emails or ad IDs to an ad network for retargeting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837176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SDK that merges your app data with other apps’ for ads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495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495544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location or analytics with a data broker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2978" y="3017520"/>
            <a:ext cx="3545738" cy="3154680"/>
          </a:xfrm>
          <a:prstGeom prst="roundRect">
            <a:avLst>
              <a:gd name="adj" fmla="val 4058"/>
            </a:avLst>
          </a:prstGeom>
          <a:solidFill>
            <a:srgbClr val="D2E8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1578" y="3154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TRACKING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5157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71618" y="3520440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that happens only on the device and never leaves it identifiably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51578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71618" y="4178808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with a broker solely for fraud detection or security, on your behalf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51578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71618" y="4837176"/>
            <a:ext cx="27684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with a consumer reporting agency for credit purposes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97317" y="3017520"/>
            <a:ext cx="3545738" cy="3154680"/>
          </a:xfrm>
          <a:prstGeom prst="roundRect">
            <a:avLst>
              <a:gd name="adj" fmla="val 4058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25917" y="3154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RULES AROUND IT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25917" y="3520440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fingerprinting — even if the user taps Allow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25917" y="3950208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rewards or pressure to get an Allow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325917" y="4379976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features locked behind the prompt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325917" y="4809744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 covers all tracking, not just the IDFA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325917" y="5239512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declare data use in privacy manifests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325917" y="5669280"/>
            <a:ext cx="313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labels must match real behavior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WebKit Private Click Measurement · Apple SKAdNetwork / AdAttributionKit documentation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MEASUREMENT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ad without identifying the person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 need to know an ad worked. They don't need to know who you are.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OLD WAY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PRIVACY-PRESERVING WAY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0312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conversions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103120"/>
            <a:ext cx="2240280" cy="914400"/>
          </a:xfrm>
          <a:prstGeom prst="roundRect">
            <a:avLst>
              <a:gd name="adj" fmla="val 14000"/>
            </a:avLst>
          </a:prstGeom>
          <a:solidFill>
            <a:srgbClr val="F7D5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8892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 ties the click to the purchase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2450592"/>
            <a:ext cx="128016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2103120"/>
            <a:ext cx="2971800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2103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Click Measurement: 8-bit campaign ID, 4-bit conversion value, report delayed 24–48 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3127248"/>
            <a:ext cx="2240280" cy="914400"/>
          </a:xfrm>
          <a:prstGeom prst="roundRect">
            <a:avLst>
              <a:gd name="adj" fmla="val 14000"/>
            </a:avLst>
          </a:prstGeom>
          <a:solidFill>
            <a:srgbClr val="F7D5C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8892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IDFA join inside an attribution vendor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3474720"/>
            <a:ext cx="128016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3127248"/>
            <a:ext cx="2971800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2080" y="312724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SKAdNetwork / AdAttributionKit: signed postback from the device, delayed, coarse values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51376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4151376"/>
            <a:ext cx="2240280" cy="914400"/>
          </a:xfrm>
          <a:prstGeom prst="roundRect">
            <a:avLst>
              <a:gd name="adj" fmla="val 14000"/>
            </a:avLst>
          </a:prstGeom>
          <a:solidFill>
            <a:srgbClr val="F7D5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88920" y="415137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tracking pixel per recipient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9472" y="4498848"/>
            <a:ext cx="128016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9" name="Shape 27"/>
          <p:cNvSpPr/>
          <p:nvPr/>
        </p:nvSpPr>
        <p:spPr>
          <a:xfrm>
            <a:off x="5074920" y="4151376"/>
            <a:ext cx="2971800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12080" y="415137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Privacy Protection: content preloaded via relays, so opens look uniform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175504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analytics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51760" y="5175504"/>
            <a:ext cx="2240280" cy="914400"/>
          </a:xfrm>
          <a:prstGeom prst="roundRect">
            <a:avLst>
              <a:gd name="adj" fmla="val 14000"/>
            </a:avLst>
          </a:prstGeom>
          <a:solidFill>
            <a:srgbClr val="F7D5C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88920" y="517550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logs for every user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19472" y="5522976"/>
            <a:ext cx="128016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4920" y="5175504"/>
            <a:ext cx="2971800" cy="914400"/>
          </a:xfrm>
          <a:prstGeom prst="roundRect">
            <a:avLst>
              <a:gd name="adj" fmla="val 14000"/>
            </a:avLst>
          </a:prstGeom>
          <a:solidFill>
            <a:srgbClr val="D2E8E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212080" y="517550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with minimum-count thresholds and differential-privacy noise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21040" y="1828800"/>
            <a:ext cx="3322015" cy="4343400"/>
          </a:xfrm>
          <a:prstGeom prst="roundRect">
            <a:avLst>
              <a:gd name="adj" fmla="val 3854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549640" y="1993392"/>
            <a:ext cx="2864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MOVES THAT DO THE WORK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549640" y="2386584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070848" y="2340864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070848" y="2606040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groups, never rows.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549640" y="3054096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70848" y="3008376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070848" y="3273552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delays break the click↔buy join.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549640" y="3721608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70848" y="3675888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Coarsen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070848" y="3941064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bits of value, not the full event.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549640" y="4389120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070848" y="434340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070848" y="4608576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reported below a crowd size.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549640" y="5056632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070848" y="5010912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070848" y="5276088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bounds any one person.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8549640" y="5669280"/>
            <a:ext cx="2864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toolbox as pp. 32–37.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as of September 2026 · vendor documentation; Google Privacy Sandbox update (Oct 17, 2025)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SCOREBOARD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defenses stand in 2026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decide outcomes — most people never change a setting.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105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350008" y="1810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THIRD-PARTY COOKIES / IDs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07608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025128" y="1810512"/>
            <a:ext cx="2727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&amp; REDIRECT TRACKING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1031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40280" y="21031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350008" y="210312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default since 2020; script-set cookies capped at 7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10312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07608" y="210312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Fingerprinting Protection for all browsing (Safari 26)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2103120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25128" y="2103120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click IDs stripped; bounce mitigations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724912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40280" y="2724912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50008" y="272491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Cookie Protection partitions every cookie (default since 2022)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2724912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BEDB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07608" y="2724912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fingerprinters blocked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2724912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FBEDB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25128" y="2724912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Redirect-tracker cleanup; query stripping in Strict mode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346704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40280" y="3346704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50008" y="3346704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cookies blocked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3346704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07608" y="3346704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values randomized per site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3346704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25128" y="3346704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tracking parameters stripped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968496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40280" y="3968496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50008" y="3968496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by default — phase-out abandoned; blocked in Incognito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7880" y="3968496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007608" y="3968496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protections by default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15400" y="3968496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25128" y="3968496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default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590288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40280" y="459028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350008" y="4590288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IDFA and all cross-company tracking gated by ATT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97880" y="4590288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007608" y="4590288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by App Store policy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915400" y="4590288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FBEDB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025128" y="4590288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in Mail, Messages, private browsing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2120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240280" y="52120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BEDB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350008" y="521208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ID available unless the user deletes it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97880" y="52120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BEDB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007608" y="52120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by Play policy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915400" y="5212080"/>
            <a:ext cx="2727655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025128" y="5212080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app and browser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5971032"/>
            <a:ext cx="274320" cy="182880"/>
          </a:xfrm>
          <a:prstGeom prst="rect">
            <a:avLst/>
          </a:prstGeom>
          <a:solidFill>
            <a:srgbClr val="D2E8E1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4400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by default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51760" y="5971032"/>
            <a:ext cx="274320" cy="182880"/>
          </a:xfrm>
          <a:prstGeom prst="rect">
            <a:avLst/>
          </a:prstGeom>
          <a:solidFill>
            <a:srgbClr val="FBEDB8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017520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54880" y="5971032"/>
            <a:ext cx="274320" cy="182880"/>
          </a:xfrm>
          <a:prstGeom prst="rect">
            <a:avLst/>
          </a:prstGeom>
          <a:solidFill>
            <a:srgbClr val="F7D5CB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0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by default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6858000" y="5897880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retired most Privacy Sandbox APIs (Topics, Protected Audience, Attribution Reporting…) in Oct 2025.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FTC press releases and case pages · HHS OCR tracking-technology bulletin · public reporting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CASE FILES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case files: when pixels meet sensitive data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started as an ordinary marketing or analytics integration.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410048" cy="1755648"/>
          </a:xfrm>
          <a:prstGeom prst="roundRect">
            <a:avLst>
              <a:gd name="adj" fmla="val 729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65960"/>
            <a:ext cx="82296" cy="148132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GoodRx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358488" y="1975104"/>
            <a:ext cx="1417320" cy="292608"/>
          </a:xfrm>
          <a:prstGeom prst="roundRect">
            <a:avLst>
              <a:gd name="adj" fmla="val 37500"/>
            </a:avLst>
          </a:prstGeom>
          <a:noFill/>
          <a:ln w="15875">
            <a:solidFill>
              <a:srgbClr val="D6452A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FTC · 2023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31720"/>
            <a:ext cx="490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prescription and health details with ad platforms through pixels and SDKs, despite privacy promises. First Health Breach Notification Rule case: $1.5M penalty and a ban on sharing health data for ads.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13639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 </a:t>
            </a:r>
            <a:pPr indent="0" marL="0">
              <a:buNone/>
            </a:pPr>
            <a:r>
              <a:rPr lang="en-US" sz="12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“standard” pixel on a health page is a health-data disclosure.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1828800"/>
            <a:ext cx="5410048" cy="1755648"/>
          </a:xfrm>
          <a:prstGeom prst="roundRect">
            <a:avLst>
              <a:gd name="adj" fmla="val 729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82296" cy="1481328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7328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BetterHelp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0042855" y="1975104"/>
            <a:ext cx="1417320" cy="292608"/>
          </a:xfrm>
          <a:prstGeom prst="roundRect">
            <a:avLst>
              <a:gd name="adj" fmla="val 37500"/>
            </a:avLst>
          </a:prstGeom>
          <a:noFill/>
          <a:ln w="15875">
            <a:solidFill>
              <a:srgbClr val="7A3B69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FTC · 2023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07328" y="2331720"/>
            <a:ext cx="490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counseling service shared emails, IP addresses, and intake answers with advertisers after promising privacy. $7.8M for refunds; barred from sharing health data for advertising.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313639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 </a:t>
            </a:r>
            <a:pPr indent="0" marL="0">
              <a:buNone/>
            </a:pPr>
            <a:r>
              <a:rPr lang="en-US" sz="12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emails of therapy seekers are still health data.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730752"/>
            <a:ext cx="5410048" cy="1755648"/>
          </a:xfrm>
          <a:prstGeom prst="roundRect">
            <a:avLst>
              <a:gd name="adj" fmla="val 729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67912"/>
            <a:ext cx="82296" cy="1481328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pixels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358488" y="3877056"/>
            <a:ext cx="1417320" cy="292608"/>
          </a:xfrm>
          <a:prstGeom prst="roundRect">
            <a:avLst>
              <a:gd name="adj" fmla="val 37500"/>
            </a:avLst>
          </a:prstGeom>
          <a:noFill/>
          <a:ln w="15875">
            <a:solidFill>
              <a:srgbClr val="2E4A9E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 →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233672"/>
            <a:ext cx="490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found ad pixels on many hospital websites and patient portals, sending appointment details. HHS issued tracking-technology guidance; a court later narrowed part of it (2024).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038344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 </a:t>
            </a:r>
            <a:pPr indent="0" marL="0">
              <a:buNone/>
            </a:pPr>
            <a:r>
              <a:rPr lang="en-US" sz="12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code on a logged-in page sees what the patient sees.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33008" y="3730752"/>
            <a:ext cx="5410048" cy="1755648"/>
          </a:xfrm>
          <a:prstGeom prst="roundRect">
            <a:avLst>
              <a:gd name="adj" fmla="val 729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3008" y="3867912"/>
            <a:ext cx="82296" cy="14813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0732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Kochava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0042855" y="3877056"/>
            <a:ext cx="1417320" cy="292608"/>
          </a:xfrm>
          <a:prstGeom prst="roundRect">
            <a:avLst>
              <a:gd name="adj" fmla="val 37500"/>
            </a:avLst>
          </a:prstGeom>
          <a:noFill/>
          <a:ln w="15875">
            <a:solidFill>
              <a:srgbClr val="B8860B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FTC · 2022 →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507328" y="4233672"/>
            <a:ext cx="490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broker sold precise coordinates tied to mobile ad IDs, exposing visits to clinics, places of worship, and shelters. A proposed settlement bars selling sensitive location data without express consent.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07328" y="5038344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 </a:t>
            </a:r>
            <a:pPr indent="0" marL="0">
              <a:buNone/>
            </a:pPr>
            <a:r>
              <a:rPr lang="en-US" sz="12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“anonymous” ad ID plus precise location is a person.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87568"/>
            <a:ext cx="11094415" cy="475488"/>
          </a:xfrm>
          <a:prstGeom prst="roundRect">
            <a:avLst>
              <a:gd name="adj" fmla="val 19231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the pixel or SDK behaved exactly as designed. What failed was a review that never asked where the events went.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6452A"/>
          </a:solidFill>
          <a:ln w="12700">
            <a:solidFill>
              <a:srgbClr val="D64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TRACKING · WORKED 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“Marketing wants to send hashed emails to an ad platform”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common request. Walk it with the 8 questions (p. 43) and land on a better design.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154680" cy="2011680"/>
          </a:xfrm>
          <a:prstGeom prst="roundRect">
            <a:avLst>
              <a:gd name="adj" fmla="val 6364"/>
            </a:avLst>
          </a:prstGeom>
          <a:solidFill>
            <a:srgbClr val="D9E0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6771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“Upload SHA-256 hashes of customer emails with purchase events so the ad platform can match them and optimize our campaigns.”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154680" cy="2148840"/>
          </a:xfrm>
          <a:prstGeom prst="roundRect">
            <a:avLst>
              <a:gd name="adj" fmla="val 5957"/>
            </a:avLst>
          </a:prstGeom>
          <a:solidFill>
            <a:srgbClr val="F7D5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160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ANSWER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622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trike="sngStrike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“It’s hashed, so it’s anonymized.”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74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can hash its own users’ emails and match yours exactly. That match is the whole point of the product.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828800"/>
            <a:ext cx="4526280" cy="4343400"/>
          </a:xfrm>
          <a:prstGeom prst="roundRect">
            <a:avLst>
              <a:gd name="adj" fmla="val 294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160520" y="196596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ANSWER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2340864"/>
            <a:ext cx="402336" cy="402336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560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hashed email is a stable identifier — pseudonymous, never anonymous.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3108960"/>
            <a:ext cx="402336" cy="402336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33284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with another company’s data for ads is tracking under ATT and “sharing” under CPRA.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3877056"/>
            <a:ext cx="402336" cy="402336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096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consented users; never health, finance, or kids’ contexts; no raw event detail.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4645152"/>
            <a:ext cx="402336" cy="402336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608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aggregate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8646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room with thresholds, or on-device attribution instead of person-level uploads.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5413248"/>
            <a:ext cx="402336" cy="402336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5376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56327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GPC checked at send time, partner retention limits, audit logs.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0" y="1828800"/>
            <a:ext cx="2956255" cy="4343400"/>
          </a:xfrm>
          <a:prstGeom prst="roundRect">
            <a:avLst>
              <a:gd name="adj" fmla="val 4330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887968" y="1965960"/>
            <a:ext cx="2553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FLAGS IN ANY TRACKING DESIGN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251460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SDK added without an egress review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887968" y="310896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signals collected “for fraud,” then shared with ad partners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887968" y="37033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URLs with query strings sent to third parties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87968" y="429768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on logged-in or sensitive pages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887968" y="489204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lifetimes longer than the purpose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548640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for an opt-out to reach partners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E4A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-182880"/>
            <a:ext cx="512064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0" b="1" dirty="0">
                <a:solidFill>
                  <a:srgbClr val="253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· IN PRACTICE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practice: how Apple builds privacy.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become architecture. Architecture becomes products people use every day — then you practice the judgment yourself.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LEVEL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79222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PRINCIPLES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709160"/>
            <a:ext cx="198424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ARCHITECTURE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4709160"/>
            <a:ext cx="1312164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 APPLE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21324" y="47091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66360"/>
            <a:ext cx="169621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EXERCISE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72868" y="5166360"/>
            <a:ext cx="112014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MEMO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51663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PUSHBACK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5166360"/>
            <a:ext cx="112014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SELF-TEST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21324" y="51663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QUESTIONS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76856" y="56235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PATH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apple.com/privacy · Apple Platform Security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APPLE LENS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principles Apple repeats everywhere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them as design rules you can apply on a whiteboard, not as slogans.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4160520"/>
          </a:xfrm>
          <a:prstGeom prst="roundRect">
            <a:avLst>
              <a:gd name="adj" fmla="val 5622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19202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71800"/>
            <a:ext cx="2053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MINIMIZATION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661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only what is needed.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" y="4526280"/>
            <a:ext cx="227297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4617720"/>
            <a:ext cx="1998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UP AS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4846320"/>
            <a:ext cx="19986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uses random, rotating identifiers rather than your Apple Account.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79394" y="1828800"/>
            <a:ext cx="2602154" cy="4160520"/>
          </a:xfrm>
          <a:prstGeom prst="roundRect">
            <a:avLst>
              <a:gd name="adj" fmla="val 5622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53714" y="19202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20" name="Text 18"/>
          <p:cNvSpPr txBox="1"/>
          <p:nvPr/>
        </p:nvSpPr>
        <p:spPr>
          <a:xfrm>
            <a:off x="3653714" y="2971800"/>
            <a:ext cx="2053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ON-DEVICE PROCESSING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53714" y="35661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computation local when possible.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43986" y="4526280"/>
            <a:ext cx="227297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81146" y="4617720"/>
            <a:ext cx="1998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UP AS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681146" y="4846320"/>
            <a:ext cx="19986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recognizes people and scenes on the device itself.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0148" y="1828800"/>
            <a:ext cx="2602154" cy="4160520"/>
          </a:xfrm>
          <a:prstGeom prst="roundRect">
            <a:avLst>
              <a:gd name="adj" fmla="val 5622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84468" y="19202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27" name="Text 25"/>
          <p:cNvSpPr txBox="1"/>
          <p:nvPr/>
        </p:nvSpPr>
        <p:spPr>
          <a:xfrm>
            <a:off x="6484468" y="2971800"/>
            <a:ext cx="2053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TRANSPARENCY &amp; CONTROL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84468" y="35661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use understandable and controllable.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74740" y="4526280"/>
            <a:ext cx="227297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1900" y="4617720"/>
            <a:ext cx="1998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UP AS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511900" y="4846320"/>
            <a:ext cx="19986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Tracking Transparency, privacy nutrition labels, App Privacy Report.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40901" y="1828800"/>
            <a:ext cx="2602154" cy="4160520"/>
          </a:xfrm>
          <a:prstGeom prst="roundRect">
            <a:avLst>
              <a:gd name="adj" fmla="val 5622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315221" y="19202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400" dirty="0"/>
          </a:p>
        </p:txBody>
      </p:sp>
      <p:sp>
        <p:nvSpPr>
          <p:cNvPr id="34" name="Text 32"/>
          <p:cNvSpPr txBox="1"/>
          <p:nvPr/>
        </p:nvSpPr>
        <p:spPr>
          <a:xfrm>
            <a:off x="9315221" y="2971800"/>
            <a:ext cx="2053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315221" y="35661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data across its whole lifecycle.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205493" y="4526280"/>
            <a:ext cx="227297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342653" y="4617720"/>
            <a:ext cx="1998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UP AS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342653" y="4846320"/>
            <a:ext cx="19986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Enclave, end-to-end encryption, Advanced Data Protection.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PRINCIPLE 1 · MINIMIZATION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control is the field you never collect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feature, two payloads. Read them the way a reviewer would.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5212080" cy="384048"/>
          </a:xfrm>
          <a:prstGeom prst="roundRect">
            <a:avLst>
              <a:gd name="adj" fmla="val 28571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SERVER-FIRST PAYLOAD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"user_id":   "a91f-22c0-…",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"device_id": "E3C1-7F0A-…",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"url": "https://clinic.example/…?q=…",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"ts": "2026-09-25T14:03:17.412Z",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"history_days": 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5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3154680"/>
            <a:ext cx="685800" cy="548640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0975" y="1828800"/>
            <a:ext cx="5212080" cy="384048"/>
          </a:xfrm>
          <a:prstGeom prst="roundRect">
            <a:avLst>
              <a:gd name="adj" fmla="val 28571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 USEFUL SIGNAL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30975" y="22860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   "health",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"time_bucket": "afternoon",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"report":      "&lt;privatized on device&gt;",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"ttl":         "7d"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2E8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joins to a person   ✗ reveals a clinic visit   ✗ kept for 90 days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30975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person key   ✓ coarse time   ✓ one-week TTL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2C14E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Reviewer’s line: “Separate what is required from what is merely convenient.”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publicly emphasizes on-device processing as a privacy principle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PRINCIPLE 2 · ON-DEVICE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intelligence toward the user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server does not need raw data, do the work where the data already lives.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2514600" cy="4251960"/>
          </a:xfrm>
          <a:prstGeom prst="roundRect">
            <a:avLst>
              <a:gd name="adj" fmla="val 12727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1965960"/>
            <a:ext cx="2240280" cy="3886200"/>
          </a:xfrm>
          <a:prstGeom prst="roundRect">
            <a:avLst>
              <a:gd name="adj" fmla="val 10204"/>
            </a:avLst>
          </a:prstGeom>
          <a:solidFill>
            <a:srgbClr val="F4ED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2057400"/>
            <a:ext cx="685800" cy="128016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2286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DEVICE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51760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01568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51376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privatize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01184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3063240"/>
            <a:ext cx="914400" cy="594360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1810512"/>
            <a:ext cx="6751015" cy="2103120"/>
          </a:xfrm>
          <a:prstGeom prst="roundRect">
            <a:avLst>
              <a:gd name="adj" fmla="val 6087"/>
            </a:avLst>
          </a:prstGeom>
          <a:solidFill>
            <a:srgbClr val="D9E0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66360" y="1938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SERVER RECEIVES ONLY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331720"/>
            <a:ext cx="2964028" cy="54864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aggregate count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4708" y="2331720"/>
            <a:ext cx="2964028" cy="54864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privatized event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044952"/>
            <a:ext cx="2964028" cy="54864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 token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04708" y="3044952"/>
            <a:ext cx="2964028" cy="54864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update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4114800"/>
            <a:ext cx="3238348" cy="1874520"/>
          </a:xfrm>
          <a:prstGeom prst="roundRect">
            <a:avLst>
              <a:gd name="adj" fmla="val 68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120640" y="4251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 FOR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4498848"/>
            <a:ext cx="27811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Personalization, classification, suggestions, and photo or text understanding — anything whose value is personal to one user.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04708" y="4114800"/>
            <a:ext cx="3238348" cy="1874520"/>
          </a:xfrm>
          <a:prstGeom prst="roundRect">
            <a:avLst>
              <a:gd name="adj" fmla="val 68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33308" y="4251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ENOUGH WHEN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633308" y="4498848"/>
            <a:ext cx="27811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cross-user learning (add local DP or secure aggregation) or a model too large for the device (use stateless, verifiable cloud compute).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prompt; the app name is fictional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PRINCIPLE 3 · TRANSPARENCY &amp; CONTROL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control, in the moment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understand the important choice before it becomes irreversible.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2834640" cy="4297680"/>
          </a:xfrm>
          <a:prstGeom prst="roundRect">
            <a:avLst>
              <a:gd name="adj" fmla="val 12258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1965960"/>
            <a:ext cx="2560320" cy="3931920"/>
          </a:xfrm>
          <a:prstGeom prst="roundRect">
            <a:avLst>
              <a:gd name="adj" fmla="val 10000"/>
            </a:avLst>
          </a:prstGeom>
          <a:solidFill>
            <a:srgbClr val="8FA8A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2606040"/>
            <a:ext cx="2194560" cy="2834640"/>
          </a:xfrm>
          <a:prstGeom prst="roundRect">
            <a:avLst>
              <a:gd name="adj" fmla="val 6250"/>
            </a:avLst>
          </a:prstGeom>
          <a:solidFill>
            <a:srgbClr val="F7F5F0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23444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“Trailhead” to use your location?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location is used to show trails near you.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6576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E7E4D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Precise: On  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4069080"/>
            <a:ext cx="2194560" cy="91"/>
          </a:xfrm>
          <a:prstGeom prst="line">
            <a:avLst/>
          </a:prstGeom>
          <a:noFill/>
          <a:ln w="9525">
            <a:solidFill>
              <a:srgbClr val="D8D4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0873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43000" y="4507992"/>
            <a:ext cx="2194560" cy="91"/>
          </a:xfrm>
          <a:prstGeom prst="line">
            <a:avLst/>
          </a:prstGeom>
          <a:noFill/>
          <a:ln w="9525">
            <a:solidFill>
              <a:srgbClr val="D8D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5262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While Using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4946904"/>
            <a:ext cx="2194560" cy="91"/>
          </a:xfrm>
          <a:prstGeom prst="line">
            <a:avLst/>
          </a:prstGeom>
          <a:noFill/>
          <a:ln w="9525">
            <a:solidFill>
              <a:srgbClr val="D8D4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4965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Allow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1947672"/>
            <a:ext cx="713232" cy="71323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74920" y="1828800"/>
            <a:ext cx="6568135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25780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157984"/>
            <a:ext cx="62023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will happen — in the moment, in plain words.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459736"/>
            <a:ext cx="620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Purpose strings inside permission prompts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3044952"/>
            <a:ext cx="713232" cy="71323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074920" y="2926080"/>
            <a:ext cx="6568135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25780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255264"/>
            <a:ext cx="62023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real, granular options — not all-or-nothing.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557016"/>
            <a:ext cx="620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Approximate vs. precise location; limited photo access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142232"/>
            <a:ext cx="713232" cy="713232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074920" y="4023360"/>
            <a:ext cx="6568135" cy="96012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25780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4352544"/>
            <a:ext cx="62023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review and change it later.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4654296"/>
            <a:ext cx="620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Settings › Privacy &amp; Security; App Privacy Report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5257800"/>
            <a:ext cx="7436815" cy="731520"/>
          </a:xfrm>
          <a:prstGeom prst="roundRect">
            <a:avLst>
              <a:gd name="adj" fmla="val 12500"/>
            </a:avLst>
          </a:prstGeom>
          <a:solidFill>
            <a:srgbClr val="E39A2D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buried toggle is not the same as informed control.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Privacy · Apple Pay · WebKit · Apple ML Research · PCC · iCloud Private Relay documentation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APPLE PATTERNS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architecture, not the slogans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public materials show privacy decisions embodied in system design. Know what each one reduces.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29968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71700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63040" y="205740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Safari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3347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Tracking Prevention · storage partitioning · fingerprinting defenses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17296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LINKABILITY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22978" y="182880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4146" y="2029968"/>
            <a:ext cx="566928" cy="56692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878" y="21717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237378" y="205740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Pay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524146" y="263347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Account Number instead of your card number · Secure Element · one-time dynamic codes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24146" y="317296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IDENTITY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097317" y="182880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98485" y="2029968"/>
            <a:ext cx="566928" cy="56692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217" y="2171700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11717" y="205740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privacy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8298485" y="263347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Device-side privatization · no device identifiers on reports · aggregate-only learning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298485" y="317296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DATA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8640" y="370332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9808" y="3904488"/>
            <a:ext cx="566928" cy="56692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046220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463040" y="393192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 Compute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749808" y="450799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cloud AI · no privileged runtime access · verifiable software images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749808" y="504748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TRUST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322978" y="370332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24146" y="3904488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878" y="4046220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237378" y="393192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iCloud Private Relay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4524146" y="450799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relays, so no single party sees both who you are and where you go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4524146" y="504748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LINKABILITY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8097317" y="3703320"/>
            <a:ext cx="3545738" cy="1691640"/>
          </a:xfrm>
          <a:prstGeom prst="roundRect">
            <a:avLst>
              <a:gd name="adj" fmla="val 756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298485" y="3904488"/>
            <a:ext cx="566928" cy="56692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217" y="4046220"/>
            <a:ext cx="283464" cy="28346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011717" y="3931920"/>
            <a:ext cx="2448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 Privacy Protection</a:t>
            </a:r>
            <a:endParaRPr lang="en-US" sz="1700" dirty="0"/>
          </a:p>
        </p:txBody>
      </p:sp>
      <p:sp>
        <p:nvSpPr>
          <p:cNvPr id="45" name="Text 37"/>
          <p:cNvSpPr txBox="1"/>
          <p:nvPr/>
        </p:nvSpPr>
        <p:spPr>
          <a:xfrm>
            <a:off x="8298485" y="4507992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remote content privately — hides your IP and open activity from senders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8298485" y="5047488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DATA</a:t>
            </a:r>
            <a:endParaRPr lang="en-US" sz="85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566928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lesson: say which of trust, data, identity, or privileged access your design reduces.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E4A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005840"/>
            <a:ext cx="4206240" cy="4206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9834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· FIELD MODULE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Apple: every product, one privacy song.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iCloud, Keychain, Wallet, partners, and AI — explained in the words Apple engineers actually use.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MODULE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091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CHORUS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892808" y="47091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PHRASEBOOK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3236976" y="4709160"/>
            <a:ext cx="92811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SILICON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293108" y="4709160"/>
            <a:ext cx="1408176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iCLOUD + ADP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829300" y="4709160"/>
            <a:ext cx="208026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KEYCHAIN + PASSKEYS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66360"/>
            <a:ext cx="198424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+ FIND MY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660904" y="5166360"/>
            <a:ext cx="1600200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RULE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389120" y="51663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 + CARD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733288" y="51663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23560"/>
            <a:ext cx="198424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INTELLIGENCE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660904" y="5623560"/>
            <a:ext cx="150418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EVERYDAY APPS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293108" y="5623560"/>
            <a:ext cx="1024128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445252" y="5623560"/>
            <a:ext cx="121615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PARTS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789420" y="5623560"/>
            <a:ext cx="736092" cy="347472"/>
          </a:xfrm>
          <a:prstGeom prst="roundRect">
            <a:avLst>
              <a:gd name="adj" fmla="val 31579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behavior per Apple Platform Security guide and apple.com/privacy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THE CHORUS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four-beat sentence that sounds like Apple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beats in order. It works for a chip, an app, a cloud service, or a partner deal.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♪ THE CHORUS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828800"/>
            <a:ext cx="2282114" cy="822960"/>
          </a:xfrm>
          <a:prstGeom prst="roundRect">
            <a:avLst>
              <a:gd name="adj" fmla="val 11111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1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for you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13834" y="1828800"/>
            <a:ext cx="2282114" cy="822960"/>
          </a:xfrm>
          <a:prstGeom prst="roundRect">
            <a:avLst>
              <a:gd name="adj" fmla="val 11111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2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happens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87388" y="1828800"/>
            <a:ext cx="2282114" cy="822960"/>
          </a:xfrm>
          <a:prstGeom prst="roundRect">
            <a:avLst>
              <a:gd name="adj" fmla="val 11111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3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see it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360941" y="1828800"/>
            <a:ext cx="2282114" cy="822960"/>
          </a:xfrm>
          <a:prstGeom prst="roundRect">
            <a:avLst>
              <a:gd name="adj" fmla="val 11111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4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control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16352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ID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2816352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8296" y="2816352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with a glance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3834" y="2816352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41850" y="2816352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Enclave, on the device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87388" y="2816352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5404" y="2816352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the iPhone; not in iCloud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60941" y="2816352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88957" y="2816352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Passcode anytime; choose per app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6616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Pay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240280" y="3566160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68296" y="3566160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 a tap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3834" y="3566160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41850" y="3566160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device-only number in the Secure Element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87388" y="3566160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15404" y="3566160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never gets your card number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60941" y="3566160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88957" y="3566160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card; remove it remotely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315968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240280" y="4315968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68296" y="4315968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people, places, memories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3834" y="4315968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41850" y="4315968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on your iPhone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87388" y="4315968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15404" y="4315968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doesn't see your library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60941" y="4315968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88957" y="4315968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per app; hide people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065776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Siri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240280" y="5065776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68296" y="5065776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things done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13834" y="5065776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41850" y="5065776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 first, then Private Cloud Compute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87388" y="5065776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15404" y="5065776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identifier — not your Apple Account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360941" y="5065776"/>
            <a:ext cx="2282114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88957" y="5065776"/>
            <a:ext cx="2026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history; audio review is opt-in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85216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 all four beats and it sounds like Apple. Skip beat 3 and it sounds like everyone else.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PHRASEBOOK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the Apple way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music. The right words prove you understand the architecture behind them.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 LIKE EVERYONE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♪ SOUNDS LIKE APPLE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collect data to personalize the experience.”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64608" y="2203704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2084832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2084832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processed on device — personal, and private.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61518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26151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data is encrypted.”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64608" y="2734056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2615184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40680" y="2615184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encrypted: only your trusted devices hold the keys. Not even Apple can read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14553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145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anonymized.”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64608" y="3264408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3145536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40680" y="3145536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linked to your Apple Account — a random identifier that rotates.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67588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675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share it with partners.”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64608" y="3794760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1" name="Shape 29"/>
          <p:cNvSpPr/>
          <p:nvPr/>
        </p:nvSpPr>
        <p:spPr>
          <a:xfrm>
            <a:off x="5303520" y="3675888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40680" y="3675888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gets a token, not your identity.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can opt out in Settings.”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64608" y="4325112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0" y="4206240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40680" y="4206240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in control — the choice appears in context, at the moment it matters.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73659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" y="4736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keep logs to improve the model.”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64608" y="4855464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41" name="Shape 39"/>
          <p:cNvSpPr/>
          <p:nvPr/>
        </p:nvSpPr>
        <p:spPr>
          <a:xfrm>
            <a:off x="5303520" y="4736592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40680" y="4736592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processed, answered, gone. Helping improve it is opt-in.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26694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52669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runs in our cloud.”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864608" y="5385816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46" name="Shape 44"/>
          <p:cNvSpPr/>
          <p:nvPr/>
        </p:nvSpPr>
        <p:spPr>
          <a:xfrm>
            <a:off x="5303520" y="5266944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440680" y="5266944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Compute: Apple silicon, verifiable by independent researchers.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8640" y="579729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D5C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5800" y="5797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“Privacy is a compliance requirement.”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864608" y="5916168"/>
            <a:ext cx="329184" cy="219456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5797296"/>
            <a:ext cx="6339535" cy="457200"/>
          </a:xfrm>
          <a:prstGeom prst="roundRect">
            <a:avLst>
              <a:gd name="adj" fmla="val 16000"/>
            </a:avLst>
          </a:prstGeom>
          <a:solidFill>
            <a:srgbClr val="D2E8E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40680" y="5797296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a fundamental human right — designed in from the first sketch.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Platform Security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DEVICES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starts in the silicon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policy runs, the hardware decides who can read what.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11680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488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Enclave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processor that guards the keys — Face ID math, Apple Pay numbers, passcode checks. The main OS never sees them.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the main processor, by design.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22978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4146" y="2011680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4884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91658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ID &amp; Touch ID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524146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is stored in the Secure Enclave — never uploaded, never in a backup. Apps learn only “matched” or “not matched.”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524146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face never leaves your iPhone.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097317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98485" y="2011680"/>
            <a:ext cx="548640" cy="54864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488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65997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8298485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gets its own key, wrapped by keys tied to your passcode. Lock the phone and protected files are unreadable.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298485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by default — no setting required.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9808" y="4233672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7083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417320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Stolen Device Protection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749808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familiar places, sensitive changes need Face ID plus a security delay. A stolen passcode is no longer enough.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49808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thief with your passcode still can’t take over.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322978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24146" y="4233672"/>
            <a:ext cx="548640" cy="548640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7083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91658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Lockdown Mode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4524146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extreme protection for people targeted by mercenary spyware: fewer features, a far smaller attack surface.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524146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sized to the threat.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097317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298485" y="4233672"/>
            <a:ext cx="548640" cy="54864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70832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965997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Lock</a:t>
            </a:r>
            <a:endParaRPr lang="en-US" sz="1700" dirty="0"/>
          </a:p>
        </p:txBody>
      </p:sp>
      <p:sp>
        <p:nvSpPr>
          <p:cNvPr id="45" name="Text 37"/>
          <p:cNvSpPr txBox="1"/>
          <p:nvPr/>
        </p:nvSpPr>
        <p:spPr>
          <a:xfrm>
            <a:off x="8298485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or stolen iPhone stays tied to its owner’s Apple Account — worthless to anyone else.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8298485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is only ever yours.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iCloud data security overview · Apple Support (UK) · *key sits in iCloud Backup unless ADP is 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iCLOUD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iCloud: whoever holds the key decides who can read it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tiers encrypt everything. The difference is key custody — and who can help you recover.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410048" cy="2651760"/>
          </a:xfrm>
          <a:prstGeom prst="roundRect">
            <a:avLst>
              <a:gd name="adj" fmla="val 482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495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DATA PROTECTION · THE DEFAULT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58568"/>
            <a:ext cx="495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and at rest. For most categories Apple keeps the keys in hardware security modules — so Apple can help you recover, and can answer lawful requests.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063240"/>
            <a:ext cx="495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END-TO-END, EVEN HERE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46704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Keychain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346704"/>
            <a:ext cx="740664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3346704"/>
            <a:ext cx="818388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39412" y="3346704"/>
            <a:ext cx="585216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730752"/>
            <a:ext cx="1751076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in iCloud*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619756" y="3730752"/>
            <a:ext cx="1207008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918204" y="3730752"/>
            <a:ext cx="1129284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14800"/>
            <a:ext cx="740664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609344" y="4114800"/>
            <a:ext cx="1440180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passwords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140964" y="4114800"/>
            <a:ext cx="585216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817620" y="4114800"/>
            <a:ext cx="973836" cy="310896"/>
          </a:xfrm>
          <a:prstGeom prst="roundRect">
            <a:avLst>
              <a:gd name="adj" fmla="val 35294"/>
            </a:avLst>
          </a:prstGeom>
          <a:solidFill>
            <a:srgbClr val="D2E8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info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3008" y="1828800"/>
            <a:ext cx="5410048" cy="2651760"/>
          </a:xfrm>
          <a:prstGeom prst="roundRect">
            <a:avLst>
              <a:gd name="adj" fmla="val 4828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61608" y="1965960"/>
            <a:ext cx="495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DATA PROTECTION · OPT-IN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61608" y="2258568"/>
            <a:ext cx="495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for 25 categories. Only your trusted devices hold the keys — Apple cannot read the data, even if asked.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61608" y="3063240"/>
            <a:ext cx="495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 THESE TEN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61608" y="3346704"/>
            <a:ext cx="128473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Backup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837780" y="3346704"/>
            <a:ext cx="1207008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Drive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36228" y="3346704"/>
            <a:ext cx="740664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968332" y="3346704"/>
            <a:ext cx="66294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61608" y="3730752"/>
            <a:ext cx="97383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526884" y="3730752"/>
            <a:ext cx="1517904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Bookmarks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36228" y="3730752"/>
            <a:ext cx="136245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Shortcuts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61608" y="4114800"/>
            <a:ext cx="1129284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Memos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682332" y="4114800"/>
            <a:ext cx="128473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Passes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058504" y="4114800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Freeform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663440"/>
            <a:ext cx="3545738" cy="1508760"/>
          </a:xfrm>
          <a:prstGeom prst="roundRect">
            <a:avLst>
              <a:gd name="adj" fmla="val 8485"/>
            </a:avLst>
          </a:prstGeom>
          <a:solidFill>
            <a:srgbClr val="FFFDF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9808" y="477316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STAYS STANDARD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49808" y="5047488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Mail, Contacts, and Calendars — they must work with the world’s email and calendar systems.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322978" y="4663440"/>
            <a:ext cx="3545738" cy="1508760"/>
          </a:xfrm>
          <a:prstGeom prst="roundRect">
            <a:avLst>
              <a:gd name="adj" fmla="val 8485"/>
            </a:avLst>
          </a:prstGeom>
          <a:solidFill>
            <a:srgbClr val="FBE3B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24146" y="477316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TRADE-OFF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24146" y="5047488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recovery: a recovery contact or a recovery key. Apple can’t reset it for you.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097317" y="4663440"/>
            <a:ext cx="3545738" cy="1508760"/>
          </a:xfrm>
          <a:prstGeom prst="roundRect">
            <a:avLst>
              <a:gd name="adj" fmla="val 8485"/>
            </a:avLst>
          </a:prstGeom>
          <a:solidFill>
            <a:srgbClr val="F7D5C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98485" y="477316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UK LESSON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98485" y="5047488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a 2025 government order, Apple withdrew ADP for new UK users rather than build a backdoor; the legal fight continued into 2026.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Platform Security guide (iCloud Keychain, passkeys, Password Monitoring)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KEYCHAIN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Keychain &amp; passkeys: secrets that sync without being seen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passwords follow you to every device — and Apple never holds a readable copy.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54480" y="2331720"/>
            <a:ext cx="1051560" cy="1371600"/>
          </a:xfrm>
          <a:prstGeom prst="line">
            <a:avLst/>
          </a:prstGeom>
          <a:noFill/>
          <a:ln w="25400">
            <a:solidFill>
              <a:srgbClr val="1E6B6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H="1">
            <a:off x="2606040" y="2331720"/>
            <a:ext cx="1143000" cy="1371600"/>
          </a:xfrm>
          <a:prstGeom prst="line">
            <a:avLst/>
          </a:prstGeom>
          <a:noFill/>
          <a:ln w="25400">
            <a:solidFill>
              <a:srgbClr val="1E6B6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06040" y="3703320"/>
            <a:ext cx="45720" cy="1234440"/>
          </a:xfrm>
          <a:prstGeom prst="line">
            <a:avLst/>
          </a:prstGeom>
          <a:noFill/>
          <a:ln w="25400">
            <a:solidFill>
              <a:srgbClr val="1E6B6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47672" y="3044952"/>
            <a:ext cx="1316736" cy="1316736"/>
          </a:xfrm>
          <a:prstGeom prst="ellipse">
            <a:avLst/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24612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96596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KEYCHAIN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34440" y="2011680"/>
            <a:ext cx="640080" cy="64008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E6B63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167128"/>
            <a:ext cx="329184" cy="32918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29000" y="2011680"/>
            <a:ext cx="640080" cy="64008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E6B63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167128"/>
            <a:ext cx="329184" cy="3291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331720" y="4617720"/>
            <a:ext cx="640080" cy="64008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E6B63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47731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" y="5440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SYNC ACROSS YOUR TRUSTED DEVICES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69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device joins only with an existing device or your passcode. Recovery escrow lives in hardware security modules that destroy it after 10 wrong guesses.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PASSKEY WORKS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29200" y="2148840"/>
            <a:ext cx="1530020" cy="1828800"/>
          </a:xfrm>
          <a:prstGeom prst="roundRect">
            <a:avLst>
              <a:gd name="adj" fmla="val 83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5212080" y="2286000"/>
            <a:ext cx="420624" cy="420624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212080" y="2761488"/>
            <a:ext cx="1164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5212080" y="3054096"/>
            <a:ext cx="1200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iPhone makes a key pair. The website stores only the public key.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723812" y="2148840"/>
            <a:ext cx="1530020" cy="1828800"/>
          </a:xfrm>
          <a:prstGeom prst="roundRect">
            <a:avLst>
              <a:gd name="adj" fmla="val 83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906692" y="2286000"/>
            <a:ext cx="420624" cy="420624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6906692" y="2761488"/>
            <a:ext cx="1164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6906692" y="3054096"/>
            <a:ext cx="1200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sends a one-time challenge.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418424" y="2148840"/>
            <a:ext cx="1530020" cy="1828800"/>
          </a:xfrm>
          <a:prstGeom prst="roundRect">
            <a:avLst>
              <a:gd name="adj" fmla="val 83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8601304" y="2286000"/>
            <a:ext cx="420624" cy="420624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8601304" y="2761488"/>
            <a:ext cx="1164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8601304" y="3054096"/>
            <a:ext cx="1200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the private key, which signs the challenge on your device.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113035" y="2148840"/>
            <a:ext cx="1530020" cy="1828800"/>
          </a:xfrm>
          <a:prstGeom prst="roundRect">
            <a:avLst>
              <a:gd name="adj" fmla="val 83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Text 33"/>
          <p:cNvSpPr txBox="1"/>
          <p:nvPr/>
        </p:nvSpPr>
        <p:spPr>
          <a:xfrm>
            <a:off x="10295915" y="2286000"/>
            <a:ext cx="420624" cy="420624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10295915" y="2761488"/>
            <a:ext cx="1164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Breach-proof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10295915" y="3054096"/>
            <a:ext cx="1200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public key is useless, and the passkey only works on the real website.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5029200" y="4160520"/>
            <a:ext cx="2094890" cy="1188720"/>
          </a:xfrm>
          <a:prstGeom prst="roundRect">
            <a:avLst>
              <a:gd name="adj" fmla="val 10769"/>
            </a:avLst>
          </a:prstGeom>
          <a:solidFill>
            <a:srgbClr val="D2E8E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5193792" y="425196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Monitoring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5193792" y="4544568"/>
            <a:ext cx="17657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passwords against known leaks without revealing them to Apple.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7288682" y="4160520"/>
            <a:ext cx="2094890" cy="1188720"/>
          </a:xfrm>
          <a:prstGeom prst="roundRect">
            <a:avLst>
              <a:gd name="adj" fmla="val 10769"/>
            </a:avLst>
          </a:prstGeom>
          <a:solidFill>
            <a:srgbClr val="D2E8E1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7453274" y="425196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groups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7453274" y="4544568"/>
            <a:ext cx="17657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set of passwords with family — end-to-end encrypted.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9548165" y="4160520"/>
            <a:ext cx="2094890" cy="1188720"/>
          </a:xfrm>
          <a:prstGeom prst="roundRect">
            <a:avLst>
              <a:gd name="adj" fmla="val 10769"/>
            </a:avLst>
          </a:prstGeom>
          <a:solidFill>
            <a:srgbClr val="D2E8E1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9712757" y="425196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codes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9712757" y="4544568"/>
            <a:ext cx="17657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codes built in, filled automatically.</a:t>
            </a:r>
            <a:endParaRPr lang="en-US" sz="1150" dirty="0"/>
          </a:p>
        </p:txBody>
      </p:sp>
      <p:sp>
        <p:nvSpPr>
          <p:cNvPr id="51" name="Text 45"/>
          <p:cNvSpPr txBox="1"/>
          <p:nvPr/>
        </p:nvSpPr>
        <p:spPr>
          <a:xfrm>
            <a:off x="5029200" y="5532120"/>
            <a:ext cx="6613855" cy="658368"/>
          </a:xfrm>
          <a:prstGeom prst="roundRect">
            <a:avLst>
              <a:gd name="adj" fmla="val 13889"/>
            </a:avLst>
          </a:prstGeom>
          <a:solidFill>
            <a:srgbClr val="1C1B1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  </a:t>
            </a:r>
            <a:pPr indent="0" marL="0">
              <a:buNone/>
            </a:pPr>
            <a:r>
              <a:rPr lang="en-US" sz="145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passwords are end-to-end encrypted. Apple can’t see them — and passkeys can’t be phished.</a:t>
            </a:r>
            <a:endParaRPr lang="en-US" sz="14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Apple Platform Security guide; Apple Security Research blog (PQ3)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COMMUNICATE + LOCATE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Messages, FaceTime &amp; Find My: private by architecture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Talk, share where you are, find what you lost — with Apple unable to read or locate any of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4475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by default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444752" y="22128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iMessage and FaceTime content is readable only on the devices in the conversation.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852928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035808"/>
            <a:ext cx="548640" cy="54864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7296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44752" y="29260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(PQ3)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1444752" y="32369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iMessage protects against “harvest now, decrypt later” attacks by future quantum computers.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3877056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31520" y="4059936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9709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44752" y="3950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Key Verification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1444752" y="426110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you’re talking to exactly who you think — alerts if a new device appears.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901184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5084064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21224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44752" y="49743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Safety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1444752" y="52852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nudity on device for children and offers help. Apple isn’t notified.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943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people in the conversation can read it.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63640" y="1828800"/>
            <a:ext cx="5379415" cy="4389120"/>
          </a:xfrm>
          <a:prstGeom prst="roundRect">
            <a:avLst>
              <a:gd name="adj" fmla="val 2917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6492240" y="1965960"/>
            <a:ext cx="4922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MY · HOW A LOST AIRTAG GETS FOUND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6492240" y="2395728"/>
            <a:ext cx="420624" cy="420624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068312" y="2340864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7068312" y="2615184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item sends a rotating public key over Bluetooth — no stable ID.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702552" y="2834640"/>
            <a:ext cx="91" cy="292608"/>
          </a:xfrm>
          <a:prstGeom prst="line">
            <a:avLst/>
          </a:prstGeom>
          <a:noFill/>
          <a:ln w="19050">
            <a:solidFill>
              <a:srgbClr val="F2C14E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492240" y="3145536"/>
            <a:ext cx="420624" cy="420624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7068312" y="3090672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7068312" y="3364992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Apple device encrypts its own location with that key and uploads it.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702552" y="3584448"/>
            <a:ext cx="91" cy="292608"/>
          </a:xfrm>
          <a:prstGeom prst="line">
            <a:avLst/>
          </a:prstGeom>
          <a:noFill/>
          <a:ln w="19050">
            <a:solidFill>
              <a:srgbClr val="F2C14E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492240" y="3895344"/>
            <a:ext cx="420624" cy="420624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7068312" y="384048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blind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7068312" y="411480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Apple’s servers hold a sealed blob: no location, no finder identity.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6702552" y="4334256"/>
            <a:ext cx="91" cy="292608"/>
          </a:xfrm>
          <a:prstGeom prst="line">
            <a:avLst/>
          </a:prstGeom>
          <a:noFill/>
          <a:ln w="19050">
            <a:solidFill>
              <a:srgbClr val="F2C14E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492240" y="4645152"/>
            <a:ext cx="420624" cy="420624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7068312" y="4590288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7068312" y="4864608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owner’s devices hold the private key to open it.</a:t>
            </a:r>
            <a:endParaRPr lang="en-US" sz="1150" dirty="0"/>
          </a:p>
        </p:txBody>
      </p:sp>
      <p:sp>
        <p:nvSpPr>
          <p:cNvPr id="49" name="Text 43"/>
          <p:cNvSpPr txBox="1"/>
          <p:nvPr/>
        </p:nvSpPr>
        <p:spPr>
          <a:xfrm>
            <a:off x="6446520" y="5413248"/>
            <a:ext cx="5013655" cy="658368"/>
          </a:xfrm>
          <a:prstGeom prst="roundRect">
            <a:avLst>
              <a:gd name="adj" fmla="val 11111"/>
            </a:avLst>
          </a:prstGeom>
          <a:solidFill>
            <a:srgbClr val="F7D5C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FLIP SIDE  </a:t>
            </a:r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can be misused for stalking, so iPhone and Android now alert you when an unknown tracker travels with you.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PARTNER DATA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handshake rule: share a token, never the person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token, a relay, a proof, a permission, or an aggregate. Name the pattern and you’ve explained the design.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072579" cy="379476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072579" cy="10972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7458" y="2103120"/>
            <a:ext cx="694944" cy="694944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194" y="2276856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0080" y="290779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3383280"/>
            <a:ext cx="17433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PARTNER GETS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3593592"/>
            <a:ext cx="17433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stand-in number that works for one purpose only.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431596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Account Number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" y="472744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tokens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04099" y="1828800"/>
            <a:ext cx="2072579" cy="379476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804099" y="1828800"/>
            <a:ext cx="2072579" cy="109728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22" name="Shape 19"/>
          <p:cNvSpPr/>
          <p:nvPr/>
        </p:nvSpPr>
        <p:spPr>
          <a:xfrm>
            <a:off x="3492917" y="2103120"/>
            <a:ext cx="694944" cy="694944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53" y="2276856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895539" y="290779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2968691" y="3383280"/>
            <a:ext cx="17433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PARTNER GETS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2968691" y="3593592"/>
            <a:ext cx="17433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forwarding address that hides the real one.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2932115" y="431596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My Email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2932115" y="472744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Private Relay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2932115" y="513892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Privacy Protection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059558" y="1828800"/>
            <a:ext cx="2072579" cy="379476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059558" y="1828800"/>
            <a:ext cx="2072579" cy="10972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32" name="Shape 28"/>
          <p:cNvSpPr/>
          <p:nvPr/>
        </p:nvSpPr>
        <p:spPr>
          <a:xfrm>
            <a:off x="5748376" y="2103120"/>
            <a:ext cx="694944" cy="694944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2276856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150998" y="290779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2100" dirty="0"/>
          </a:p>
        </p:txBody>
      </p:sp>
      <p:sp>
        <p:nvSpPr>
          <p:cNvPr id="35" name="Text 30"/>
          <p:cNvSpPr txBox="1"/>
          <p:nvPr/>
        </p:nvSpPr>
        <p:spPr>
          <a:xfrm>
            <a:off x="5224150" y="3383280"/>
            <a:ext cx="17433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PARTNER GETS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5224150" y="3593592"/>
            <a:ext cx="17433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 or no — never the underlying data.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5187574" y="431596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ID: “over 21”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187574" y="472744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ID: “matched”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315017" y="1828800"/>
            <a:ext cx="2072579" cy="379476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7315017" y="1828800"/>
            <a:ext cx="2072579" cy="109728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41" name="Shape 36"/>
          <p:cNvSpPr/>
          <p:nvPr/>
        </p:nvSpPr>
        <p:spPr>
          <a:xfrm>
            <a:off x="8003835" y="2103120"/>
            <a:ext cx="694944" cy="694944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571" y="2276856"/>
            <a:ext cx="347472" cy="34747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406457" y="290779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</a:t>
            </a:r>
            <a:endParaRPr lang="en-US" sz="2100" dirty="0"/>
          </a:p>
        </p:txBody>
      </p:sp>
      <p:sp>
        <p:nvSpPr>
          <p:cNvPr id="44" name="Text 38"/>
          <p:cNvSpPr txBox="1"/>
          <p:nvPr/>
        </p:nvSpPr>
        <p:spPr>
          <a:xfrm>
            <a:off x="7479609" y="3383280"/>
            <a:ext cx="17433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PARTNER GETS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7479609" y="3593592"/>
            <a:ext cx="17433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data type the user granted, nothing more.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7443033" y="431596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HealthKit, per data type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443033" y="472744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photos only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7443033" y="513892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location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9570476" y="1828800"/>
            <a:ext cx="2072579" cy="3794760"/>
          </a:xfrm>
          <a:prstGeom prst="roundRect">
            <a:avLst>
              <a:gd name="adj" fmla="val 61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9570476" y="1828800"/>
            <a:ext cx="2072579" cy="109728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51" name="Shape 45"/>
          <p:cNvSpPr/>
          <p:nvPr/>
        </p:nvSpPr>
        <p:spPr>
          <a:xfrm>
            <a:off x="10259294" y="2103120"/>
            <a:ext cx="694944" cy="694944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030" y="2276856"/>
            <a:ext cx="347472" cy="347472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9661916" y="290779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2100" dirty="0"/>
          </a:p>
        </p:txBody>
      </p:sp>
      <p:sp>
        <p:nvSpPr>
          <p:cNvPr id="54" name="Text 47"/>
          <p:cNvSpPr txBox="1"/>
          <p:nvPr/>
        </p:nvSpPr>
        <p:spPr>
          <a:xfrm>
            <a:off x="9735068" y="3383280"/>
            <a:ext cx="17433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PARTNER GETS</a:t>
            </a:r>
            <a:endParaRPr lang="en-US" sz="850" dirty="0"/>
          </a:p>
        </p:txBody>
      </p:sp>
      <p:sp>
        <p:nvSpPr>
          <p:cNvPr id="55" name="Text 48"/>
          <p:cNvSpPr txBox="1"/>
          <p:nvPr/>
        </p:nvSpPr>
        <p:spPr>
          <a:xfrm>
            <a:off x="9735068" y="3593592"/>
            <a:ext cx="17433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 or a noisy total — no rows about anyone.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9698492" y="431596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Click Measurement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9698492" y="472744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AdAttributionKit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9698492" y="5138928"/>
            <a:ext cx="1816547" cy="347472"/>
          </a:xfrm>
          <a:prstGeom prst="roundRect">
            <a:avLst>
              <a:gd name="adj" fmla="val 31579"/>
            </a:avLst>
          </a:prstGeom>
          <a:solidFill>
            <a:srgbClr val="F4EDE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548640" y="5779008"/>
            <a:ext cx="11094415" cy="475488"/>
          </a:xfrm>
          <a:prstGeom prst="roundRect">
            <a:avLst>
              <a:gd name="adj" fmla="val 19231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move: for any partner integration, name the pattern first — then the data, the retention, and the contract.</a:t>
            </a:r>
            <a:endParaRPr lang="en-US" sz="14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Pay security &amp; privacy overview · Apple &amp; Chase announcement (Jan 7, 2026)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PAY + CARD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Pay &amp; Apple Card: the money handshake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needs a bank, a network, and a merchant. Apple designs it so none of them gets more than its part.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464994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1965960"/>
            <a:ext cx="502920" cy="50292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2091690"/>
            <a:ext cx="251460" cy="2514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25880" y="1965960"/>
            <a:ext cx="1550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2542032"/>
            <a:ext cx="2135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Account Number + one-time code from the Secure Element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086786" y="2286000"/>
            <a:ext cx="274320" cy="292608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17" name="Shape 14"/>
          <p:cNvSpPr/>
          <p:nvPr/>
        </p:nvSpPr>
        <p:spPr>
          <a:xfrm>
            <a:off x="3425114" y="1828800"/>
            <a:ext cx="2464994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89706" y="1965960"/>
            <a:ext cx="502920" cy="50292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436" y="209169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202354" y="1965960"/>
            <a:ext cx="1550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589706" y="2542032"/>
            <a:ext cx="2135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token — never your card number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963260" y="2286000"/>
            <a:ext cx="274320" cy="292608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3" name="Shape 19"/>
          <p:cNvSpPr/>
          <p:nvPr/>
        </p:nvSpPr>
        <p:spPr>
          <a:xfrm>
            <a:off x="6301588" y="1828800"/>
            <a:ext cx="2464994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66180" y="1965960"/>
            <a:ext cx="502920" cy="50292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10" y="209169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78828" y="1965960"/>
            <a:ext cx="1550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466180" y="2542032"/>
            <a:ext cx="2135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token back to the real card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839733" y="2286000"/>
            <a:ext cx="274320" cy="292608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9" name="Shape 24"/>
          <p:cNvSpPr/>
          <p:nvPr/>
        </p:nvSpPr>
        <p:spPr>
          <a:xfrm>
            <a:off x="9178061" y="1828800"/>
            <a:ext cx="2464994" cy="1234440"/>
          </a:xfrm>
          <a:prstGeom prst="roundRect">
            <a:avLst>
              <a:gd name="adj" fmla="val 1037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342653" y="1965960"/>
            <a:ext cx="502920" cy="50292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383" y="2091690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955301" y="1965960"/>
            <a:ext cx="1550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9342653" y="2542032"/>
            <a:ext cx="2135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declines the payment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31546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2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doesn’t keep transaction details that can be tied back to you. Recent purchases live in Wallet, on your device.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548640" y="3611880"/>
            <a:ext cx="5410048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777240" y="3749040"/>
            <a:ext cx="495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CARD · THE PROMISE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777240" y="4087368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know what you bought, where, or how much.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777240" y="4590288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issuing bank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account and has committed not to share or sell your data for marketing or ads.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777240" y="5093208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insights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computed on your iPhone, in Wallet.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777240" y="5596128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card number </a:t>
            </a:r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keeps online shopping apart from the physical card.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6233008" y="3611880"/>
            <a:ext cx="5410048" cy="2560320"/>
          </a:xfrm>
          <a:prstGeom prst="roundRect">
            <a:avLst>
              <a:gd name="adj" fmla="val 5000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6461608" y="3749040"/>
            <a:ext cx="495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CASE · THE ISSUER SWITCH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461608" y="4023360"/>
            <a:ext cx="495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2026: Apple and Chase announced Chase will replace Goldman Sachs as issuer over about 24 months. What does a privacy reviewer ask?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6461608" y="4645152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moves — only what servicing the account needs?</a:t>
            </a:r>
            <a:endParaRPr lang="en-US" sz="1150" dirty="0"/>
          </a:p>
        </p:txBody>
      </p:sp>
      <p:sp>
        <p:nvSpPr>
          <p:cNvPr id="45" name="Text 39"/>
          <p:cNvSpPr txBox="1"/>
          <p:nvPr/>
        </p:nvSpPr>
        <p:spPr>
          <a:xfrm>
            <a:off x="6461608" y="5010912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“no marketing, no ads” limits bind the new bank?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6461608" y="5376672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customers told, and what choices do they get?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6461608" y="5742432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old issuer delete — and how is it verified?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Sign in with Apple, Apple Wallet Digital ID (Nov 2025), and HealthKit documentation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IDENTITY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in, show ID, share health: the identity handshakes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proves who they are — or shares one fact — without handing over a profile.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434340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11680"/>
            <a:ext cx="603504" cy="603504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162556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08760" y="2011680"/>
            <a:ext cx="24027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with Apple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" y="2907792"/>
            <a:ext cx="118872" cy="118872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2816352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gets a name you can edit and an email — your real one or a Hide My Email relay.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3749040"/>
            <a:ext cx="118872" cy="118872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51560" y="3657600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doesn’t track what you do in the app.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4590288"/>
            <a:ext cx="118872" cy="118872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4498848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comes built in.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3232" y="5376672"/>
            <a:ext cx="3216554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41248" y="5468112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sign-in the app can’t use to follow you.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22978" y="1828800"/>
            <a:ext cx="3545738" cy="434340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51578" y="2011680"/>
            <a:ext cx="603504" cy="603504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454" y="2162556"/>
            <a:ext cx="301752" cy="30175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83098" y="2011680"/>
            <a:ext cx="24027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ID &amp; Digital ID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597298" y="2907792"/>
            <a:ext cx="118872" cy="11887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25898" y="2816352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Driver’s licenses, and since Nov 2025, an ID built from a U.S. passport — accepted at TSA checkpoints.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597298" y="3749040"/>
            <a:ext cx="118872" cy="11887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825898" y="3657600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exactly which fields are requested and approve with Face ID; only those are shared.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597298" y="4590288"/>
            <a:ext cx="118872" cy="11887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825898" y="4498848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unlock or hand over your iPhone.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487570" y="5376672"/>
            <a:ext cx="3216554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4615586" y="5468112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fact, not the whole card.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8097317" y="1828800"/>
            <a:ext cx="3545738" cy="434340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325917" y="2011680"/>
            <a:ext cx="603504" cy="603504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793" y="2162556"/>
            <a:ext cx="301752" cy="30175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9057437" y="2011680"/>
            <a:ext cx="24027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HealthKit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8371637" y="2907792"/>
            <a:ext cx="118872" cy="11887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600237" y="2816352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per data type: steps yes, heart rate no.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8371637" y="3749040"/>
            <a:ext cx="118872" cy="11887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600237" y="3657600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denied read looks exactly like “no data,” so an app can’t infer what you chose to hide.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8371637" y="4590288"/>
            <a:ext cx="118872" cy="11887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8600237" y="4498848"/>
            <a:ext cx="28142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is end-to-end encrypted in iCloud.</a:t>
            </a:r>
            <a:endParaRPr lang="en-US" sz="1250" dirty="0"/>
          </a:p>
        </p:txBody>
      </p:sp>
      <p:sp>
        <p:nvSpPr>
          <p:cNvPr id="45" name="Shape 40"/>
          <p:cNvSpPr/>
          <p:nvPr/>
        </p:nvSpPr>
        <p:spPr>
          <a:xfrm>
            <a:off x="8261909" y="5376672"/>
            <a:ext cx="3216554" cy="640080"/>
          </a:xfrm>
          <a:prstGeom prst="roundRect">
            <a:avLst>
              <a:gd name="adj" fmla="val 11429"/>
            </a:avLst>
          </a:prstGeom>
          <a:solidFill>
            <a:srgbClr val="D9E0F4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8389925" y="5468112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app sees which data.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Security Research (PCC) · Apple Intelligence &amp; ChatGPT docs · Google–Apple statement, Jan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APPLE INTELLIGENCE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Intelligence: three tiers, one boundary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 when it can, Private Cloud Compute when it must, an outside model only when you say yes.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6949440" cy="1133856"/>
          </a:xfrm>
          <a:prstGeom prst="roundRect">
            <a:avLst>
              <a:gd name="adj" fmla="val 9677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54480" y="1920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DEVICE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1284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requests. Your personal context — mail, messages, photos — is read locally, and never leaves.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108960"/>
            <a:ext cx="6629400" cy="1133856"/>
          </a:xfrm>
          <a:prstGeom prst="roundRect">
            <a:avLst>
              <a:gd name="adj" fmla="val 9677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832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74520" y="3200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CLOUD COMPUTE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3493008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 on Apple silicon servers. Stateless, no privileged access for staff, software published for researchers — your iPhone refuses servers it can’t verify.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188720" y="4389120"/>
            <a:ext cx="6309360" cy="1133856"/>
          </a:xfrm>
          <a:prstGeom prst="roundRect">
            <a:avLst>
              <a:gd name="adj" fmla="val 9677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6634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19456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MODEL · CHATGPT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194560" y="477316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asks before sending anything. Your IP address is hidden, and OpenAI doesn’t store the request unless you sign in.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715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20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requests use a random identifier, not your Apple Account. Audio is reviewed only if you opt in.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772400" y="1828800"/>
            <a:ext cx="3870655" cy="2057400"/>
          </a:xfrm>
          <a:prstGeom prst="roundRect">
            <a:avLst>
              <a:gd name="adj" fmla="val 6222"/>
            </a:avLst>
          </a:prstGeom>
          <a:solidFill>
            <a:srgbClr val="FBEDB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01000" y="1956816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GEMINI INSIDE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001000" y="224028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and Google announced that the next Apple Foundation Models are based on Gemini. Apple says Apple Intelligence still runs on device and in Private Cloud Compute.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8001000" y="3310128"/>
            <a:ext cx="3413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come from a partner. The data stays inside Apple’s boundary.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772400" y="4069080"/>
            <a:ext cx="3870655" cy="2103120"/>
          </a:xfrm>
          <a:prstGeom prst="roundRect">
            <a:avLst>
              <a:gd name="adj" fmla="val 6087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8001000" y="4187952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OF ANY AI PARTNERSHIP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001000" y="4526280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run, on whose hardware?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001000" y="4928616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outside researchers verify it?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8001000" y="5330952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 prompt or output reach the partner?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8001000" y="5733288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kept, and for how long?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privacy product pages · Apple Machine Learning Research (Enhanced Visual Search)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EVERYDAY APPS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Maps, Photos, Home, Health: the same song in every app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products, same four beats. Learn one example per app and you can improvise the 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11680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488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sign-in needed. Requests use random identifiers that rotate; Look Around blurs faces and license plates.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doesn’t know who you are.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22978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4146" y="2011680"/>
            <a:ext cx="548640" cy="54864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4884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91658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24146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scenes are recognized on device. Landmark lookup uses homomorphic encryption, noise, and a relay.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524146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never sees your photos.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097317" y="1828800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98485" y="2011680"/>
            <a:ext cx="548640" cy="54864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488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65997" y="201168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98485" y="2651760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HomeKit Secure Video analyzes camera footage on your home hub; clips are end-to-end encrypted in iCloud.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298485" y="3520440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stays yours.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9808" y="4233672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7083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417320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749808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on the device with your passcode, end-to-end in iCloud, shared only per app and per type.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49808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 data, under your control.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322978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24146" y="4233672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7083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91658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4524146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Privacy Protection hides your IP address and whether you opened a message.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524146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 can’t watch you read.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097317" y="4050792"/>
            <a:ext cx="3545738" cy="2057400"/>
          </a:xfrm>
          <a:prstGeom prst="roundRect">
            <a:avLst>
              <a:gd name="adj" fmla="val 622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298485" y="4233672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70832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965997" y="4233672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</a:t>
            </a:r>
            <a:endParaRPr lang="en-US" sz="1800" dirty="0"/>
          </a:p>
        </p:txBody>
      </p:sp>
      <p:sp>
        <p:nvSpPr>
          <p:cNvPr id="45" name="Text 37"/>
          <p:cNvSpPr txBox="1"/>
          <p:nvPr/>
        </p:nvSpPr>
        <p:spPr>
          <a:xfrm>
            <a:off x="8298485" y="4873752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typing patterns and new words are learned on device; the vocabulary syncs end-to-end.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8298485" y="5742432"/>
            <a:ext cx="314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</a:t>
            </a:r>
            <a:pPr indent="0" marL="0">
              <a:buNone/>
            </a:pPr>
            <a:r>
              <a:rPr lang="en-US" sz="1150" b="1" i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you, privately.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Settings screen — layout simplified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CONTROLS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has a switch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control means the user can see it and change it — in Settings, or in the moment.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3017520" cy="4526280"/>
          </a:xfrm>
          <a:prstGeom prst="roundRect">
            <a:avLst>
              <a:gd name="adj" fmla="val 1212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50976" y="1911096"/>
            <a:ext cx="2761488" cy="4270248"/>
          </a:xfrm>
          <a:prstGeom prst="roundRect">
            <a:avLst>
              <a:gd name="adj" fmla="val 9934"/>
            </a:avLst>
          </a:prstGeom>
          <a:solidFill>
            <a:srgbClr val="F2F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Settings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2743200"/>
            <a:ext cx="2468880" cy="3118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07008" y="2770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2770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7008" y="3136392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07008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3227832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D1D1D6"/>
          </a:solidFill>
          <a:ln/>
        </p:spPr>
      </p:sp>
      <p:sp>
        <p:nvSpPr>
          <p:cNvPr id="21" name="Shape 19"/>
          <p:cNvSpPr/>
          <p:nvPr/>
        </p:nvSpPr>
        <p:spPr>
          <a:xfrm>
            <a:off x="3026664" y="323697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7008" y="3520440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538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07008" y="3904488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3922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39227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07008" y="4288536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07008" y="4306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Privacy Report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43068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07008" y="4672584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4690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4690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07008" y="5056632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07008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 Mode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651760" y="50749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07008" y="5440680"/>
            <a:ext cx="2240280" cy="9144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207008" y="5458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Protection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651760" y="54589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51960" y="1783080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51960" y="1947672"/>
            <a:ext cx="73152" cy="1060704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07992" y="1911096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Privacy Report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507992" y="2240280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apps touched your camera, location, and contacts — and which domains they contacted.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61808" y="1783080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61808" y="1947672"/>
            <a:ext cx="73152" cy="1060704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317840" y="1911096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8317840" y="2240280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review and reset who can see your data — built for people leaving abusive relationships.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51960" y="3319272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251960" y="3483864"/>
            <a:ext cx="73152" cy="1060704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07992" y="3447288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Location off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4507992" y="3776472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get an approximate area instead of your exact spot.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061808" y="3319272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061808" y="3483864"/>
            <a:ext cx="73152" cy="1060704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17840" y="3447288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8317840" y="3776472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only the photos or contacts you pick, not the whole library.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251960" y="4855464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251960" y="5020056"/>
            <a:ext cx="73152" cy="1060704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507992" y="4983480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3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App Not to Track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4507992" y="5312664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 prompt (p. 60) — a denial covers all cross-company tracking.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061808" y="4855464"/>
            <a:ext cx="3581248" cy="1389888"/>
          </a:xfrm>
          <a:prstGeom prst="roundRect">
            <a:avLst>
              <a:gd name="adj" fmla="val 921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061808" y="5020056"/>
            <a:ext cx="73152" cy="1060704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317840" y="4983480"/>
            <a:ext cx="316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Protection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8317840" y="5312664"/>
            <a:ext cx="3169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 and you hold the keys to 25 iCloud categories (p. 75).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statements and public reporting, 2019–2026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THE HARD PARTS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privacy story was tested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don’t just recite the promise. They know where it bent — and how Apple answered.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127248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140903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SAY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84832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vs. government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17520" y="2084832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54680" y="2084832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2025 UK order sought access; Apple withdrew ADP for new UK users rather than build a backdoor, and fought on in 2026.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31175" y="208483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335" y="208483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the key can cost a market. That is what end-to-end means.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79776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safety vs. scanning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017520" y="2779776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2779776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2021 plan to match photos on device was paused after pushback, then dropped in Dec 2022.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31175" y="277977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68335" y="277977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chose on-device nudges for kids over scanning everyone’s library.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474720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of Siri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17520" y="3474720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54680" y="3474720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 2019 that contractors heard recordings; Apple paused grading, apologized, and made it opt-in.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31175" y="347472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68335" y="347472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off, opt-in, first-party only.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69664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Default-on features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017520" y="4169664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54680" y="4169664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Visual Search (2024) was on by default; critics wanted opt-in despite strong cryptography.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31175" y="4169664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68335" y="416966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math doesn’t replace informed choice.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64608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law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017520" y="4864608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54680" y="4864608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mainland China, iCloud is operated by a local partner under national rules.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31175" y="4864608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68335" y="486460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constraint honestly; show which protections still hold.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559552"/>
            <a:ext cx="2331720" cy="621792"/>
          </a:xfrm>
          <a:prstGeom prst="roundRect">
            <a:avLst>
              <a:gd name="adj" fmla="val 17647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models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017520" y="5559552"/>
            <a:ext cx="4876495" cy="621792"/>
          </a:xfrm>
          <a:prstGeom prst="roundRect">
            <a:avLst>
              <a:gd name="adj" fmla="val 11765"/>
            </a:avLst>
          </a:prstGeom>
          <a:solidFill>
            <a:srgbClr val="FFFDF8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54680" y="5559552"/>
            <a:ext cx="4602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Apple Foundation Models are built on Gemini (2026).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031175" y="555955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2E8E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168335" y="555955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supplier is not the data’s recipient — prove it with verifiability.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SPEAK APPLE · DRILL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sound like music: the out-loud drill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feature. Sing the four beats. Name the handshake. Say it in under 30 seconds.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4297680" cy="4343400"/>
          </a:xfrm>
          <a:prstGeom prst="roundRect">
            <a:avLst>
              <a:gd name="adj" fmla="val 2979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♪ EIGHT LINES TO HAVE READY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way to protect data is not to collect it.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807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processed on device, so it stays with you.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826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encrypted — not even Apple can read it.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581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linked to your Apple Account.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partner gets a token, not the person.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Stateless: nothing is kept after the answer.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184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— researchers can inspect what runs.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01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You’re in control, in context, in the moment.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828800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· JOURNAL SUGGESTIONS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121408"/>
            <a:ext cx="1562024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121408"/>
            <a:ext cx="1562024" cy="82296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48656" y="2240280"/>
            <a:ext cx="130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1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248656" y="2432304"/>
            <a:ext cx="1305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moments worth writing about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74104" y="2121408"/>
            <a:ext cx="1562024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74104" y="2121408"/>
            <a:ext cx="1562024" cy="82296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2120" y="2240280"/>
            <a:ext cx="130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2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902120" y="2432304"/>
            <a:ext cx="1305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device from photos, workouts, and places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27568" y="2121408"/>
            <a:ext cx="1562024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27568" y="2121408"/>
            <a:ext cx="1562024" cy="82296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55584" y="2240280"/>
            <a:ext cx="130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555584" y="2432304"/>
            <a:ext cx="1305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end-to-end encrypted in iCloud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081031" y="2121408"/>
            <a:ext cx="1562024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81031" y="2121408"/>
            <a:ext cx="1562024" cy="82296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209047" y="2240280"/>
            <a:ext cx="130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4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209047" y="2432304"/>
            <a:ext cx="1305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sources; lock Journal with Face ID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3355848"/>
            <a:ext cx="3108960" cy="310896"/>
          </a:xfrm>
          <a:prstGeom prst="roundRect">
            <a:avLst>
              <a:gd name="adj" fmla="val 35294"/>
            </a:avLst>
          </a:prstGeom>
          <a:solidFill>
            <a:srgbClr val="EBD7E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HANDSHAKE: PERMISSION — per source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3840480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TURN — FILL THE FOUR BEATS OUT LOUD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4133088"/>
            <a:ext cx="214884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Pay on iPhone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360920" y="4133088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E39A2D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7360920" y="4133088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54314" y="4133088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1E6B63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8454314" y="4133088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547708" y="4133088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D6452A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9547708" y="4133088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641101" y="4133088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2E4A9E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10641101" y="4133088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120640" y="4828032"/>
            <a:ext cx="214884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Voicemail transcripts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360920" y="4828032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E39A2D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7360920" y="4828032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54314" y="4828032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1E6B63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8454314" y="4828032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547708" y="4828032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D6452A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9547708" y="4828032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641101" y="4828032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2E4A9E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10641101" y="4828032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120640" y="5522976"/>
            <a:ext cx="214884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your location with family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360920" y="5522976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E39A2D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7360920" y="5522976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54314" y="5522976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1E6B63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8454314" y="5522976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547708" y="5522976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D6452A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9547708" y="5522976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641101" y="5522976"/>
            <a:ext cx="1001954" cy="585216"/>
          </a:xfrm>
          <a:prstGeom prst="roundRect">
            <a:avLst>
              <a:gd name="adj" fmla="val 12500"/>
            </a:avLst>
          </a:prstGeom>
          <a:solidFill>
            <a:srgbClr val="F4EDE1"/>
          </a:solidFill>
          <a:ln w="15875">
            <a:solidFill>
              <a:srgbClr val="2E4A9E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10641101" y="5522976"/>
            <a:ext cx="10019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7A3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097280"/>
            <a:ext cx="4663440" cy="4663440"/>
          </a:xfrm>
          <a:prstGeom prst="ellipse">
            <a:avLst/>
          </a:prstGeom>
          <a:solidFill>
            <a:srgbClr val="8A4A76"/>
          </a:solidFill>
          <a:ln/>
        </p:spPr>
      </p:sp>
      <p:sp>
        <p:nvSpPr>
          <p:cNvPr id="3" name="Shape 1"/>
          <p:cNvSpPr/>
          <p:nvPr/>
        </p:nvSpPr>
        <p:spPr>
          <a:xfrm>
            <a:off x="8083296" y="1591056"/>
            <a:ext cx="3675888" cy="3675888"/>
          </a:xfrm>
          <a:prstGeom prst="ellipse">
            <a:avLst/>
          </a:prstGeom>
          <a:solidFill>
            <a:srgbClr val="9A5A86"/>
          </a:solidFill>
          <a:ln/>
        </p:spPr>
      </p:sp>
      <p:sp>
        <p:nvSpPr>
          <p:cNvPr id="4" name="Shape 2"/>
          <p:cNvSpPr/>
          <p:nvPr/>
        </p:nvSpPr>
        <p:spPr>
          <a:xfrm>
            <a:off x="8577072" y="2084832"/>
            <a:ext cx="2688336" cy="2688336"/>
          </a:xfrm>
          <a:prstGeom prst="ellipse">
            <a:avLst/>
          </a:prstGeom>
          <a:solidFill>
            <a:srgbClr val="AE6E98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2578608"/>
            <a:ext cx="1700784" cy="1700784"/>
          </a:xfrm>
          <a:prstGeom prst="ellipse">
            <a:avLst/>
          </a:prstGeom>
          <a:solidFill>
            <a:srgbClr val="C488AE"/>
          </a:solidFill>
          <a:ln/>
        </p:spPr>
      </p:sp>
      <p:sp>
        <p:nvSpPr>
          <p:cNvPr id="6" name="Shape 4"/>
          <p:cNvSpPr/>
          <p:nvPr/>
        </p:nvSpPr>
        <p:spPr>
          <a:xfrm>
            <a:off x="9564624" y="3072384"/>
            <a:ext cx="713232" cy="71323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· FIELD MODULE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Peel the onion.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skin. Architecture is the flesh. At the core: who makes money from knowing you — and who can force you to hand it over.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MODULE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148132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BURN BUTTON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4297680"/>
            <a:ext cx="976579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189427" y="4297680"/>
            <a:ext cx="1565453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 MONEY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297680"/>
            <a:ext cx="148132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IDFA EXISTS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4297680"/>
            <a:ext cx="808330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ATT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81728"/>
            <a:ext cx="1228954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 vs MAPS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869034" y="4681728"/>
            <a:ext cx="164957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SUBPOENA TEST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10051" y="4681728"/>
            <a:ext cx="1565453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HISTORY HOLE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4681728"/>
            <a:ext cx="1817827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BREACHES SPREAD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65776"/>
            <a:ext cx="148132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THE SPREAD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121408" y="5065776"/>
            <a:ext cx="131307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vs META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525926" y="5065776"/>
            <a:ext cx="164957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DECODING THE FEUD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5065776"/>
            <a:ext cx="164957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BREAKS 8 RULES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9824"/>
            <a:ext cx="1228954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INCIDENTS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869034" y="5449824"/>
            <a:ext cx="1481328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AI THINKS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41802" y="5449824"/>
            <a:ext cx="976579" cy="301752"/>
          </a:xfrm>
          <a:prstGeom prst="roundRect">
            <a:avLst>
              <a:gd name="adj" fmla="val 36364"/>
            </a:avLst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ME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7A3B6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7A3B6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7A3B6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700784" y="6291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Anecdote as commonly retold from Apple’s iDVD era · consent banner is an illustrative composite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BURN BUTTON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button: what Steve Jobs would do with a cookie banner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where consent goes to die.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291840" cy="3749040"/>
          </a:xfrm>
          <a:prstGeom prst="roundRect">
            <a:avLst>
              <a:gd name="adj" fmla="val 3889"/>
            </a:avLst>
          </a:prstGeom>
          <a:solidFill>
            <a:srgbClr val="FBED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STORY, AS IT’S TOLD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6771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showed Steve Jobs a many-step design for burning a DVD. He went to the whiteboard, drew one window with one button, and wrote: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Burn.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34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absorbs the complexity. It never hands it to the person.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 rot="-180000">
            <a:off x="4343400" y="1737360"/>
            <a:ext cx="2651760" cy="384048"/>
          </a:xfrm>
          <a:prstGeom prst="roundRect">
            <a:avLst>
              <a:gd name="adj" fmla="val 14286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DVD-BURNER DECK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2240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25196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value your privacy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26151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and our 847 partners store and access information on your device and process personal data based on consent and legitimate interest for…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necessary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3291840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/>
        </p:spPr>
      </p:sp>
      <p:sp>
        <p:nvSpPr>
          <p:cNvPr id="22" name="Shape 20"/>
          <p:cNvSpPr/>
          <p:nvPr/>
        </p:nvSpPr>
        <p:spPr>
          <a:xfrm>
            <a:off x="7534656" y="3300984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51960" y="3575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content performance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0" y="3621024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D1D1D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24344" y="363016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5196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ads &amp; profiles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3950208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D1D1D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4344" y="395935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51960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geolocation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0" y="4279392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D1D1D6"/>
          </a:solidFill>
          <a:ln/>
        </p:spPr>
      </p:sp>
      <p:sp>
        <p:nvSpPr>
          <p:cNvPr id="31" name="Shape 29"/>
          <p:cNvSpPr/>
          <p:nvPr/>
        </p:nvSpPr>
        <p:spPr>
          <a:xfrm>
            <a:off x="7324344" y="428853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25196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interest (object ▾)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0" y="4608576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D1D1D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24344" y="46177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51960" y="498348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1E6FD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ALL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806440" y="4983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847 partners  ·  reject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 rot="-180000">
            <a:off x="8641080" y="1737360"/>
            <a:ext cx="2194560" cy="384048"/>
          </a:xfrm>
          <a:prstGeom prst="roundRect">
            <a:avLst>
              <a:gd name="adj" fmla="val 14286"/>
            </a:avLst>
          </a:prstGeom>
          <a:noFill/>
          <a:ln w="31750">
            <a:solidFill>
              <a:srgbClr val="1E6B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BURN BUTTON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75320" y="2240280"/>
            <a:ext cx="3367735" cy="3337560"/>
          </a:xfrm>
          <a:prstGeom prst="roundRect">
            <a:avLst>
              <a:gd name="adj" fmla="val 5479"/>
            </a:avLst>
          </a:prstGeom>
          <a:solidFill>
            <a:srgbClr val="E5E5E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549640" y="2514600"/>
            <a:ext cx="281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“Shop” to track your activity across other companies’ apps and websites?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3429000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will be used to deliver personalized ads to you.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75320" y="4206240"/>
            <a:ext cx="3367735" cy="9144"/>
          </a:xfrm>
          <a:prstGeom prst="rect">
            <a:avLst/>
          </a:prstGeom>
          <a:solidFill>
            <a:srgbClr val="C6C6C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75320" y="4224528"/>
            <a:ext cx="3367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App Not to Track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75320" y="4882896"/>
            <a:ext cx="3367735" cy="9144"/>
          </a:xfrm>
          <a:prstGeom prst="rect">
            <a:avLst/>
          </a:prstGeom>
          <a:solidFill>
            <a:srgbClr val="C6C6C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75320" y="4901184"/>
            <a:ext cx="3367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privacy setting is the default nobody has to find. One honest question beats 847 toggles.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ONION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 under every privacy feature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debates happen at the skin. Most decisions are made at the core.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3749040" cy="3749040"/>
          </a:xfrm>
          <a:prstGeom prst="ellipse">
            <a:avLst/>
          </a:prstGeom>
          <a:solidFill>
            <a:srgbClr val="FBE3B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240280"/>
            <a:ext cx="3017520" cy="3017520"/>
          </a:xfrm>
          <a:prstGeom prst="ellipse">
            <a:avLst/>
          </a:prstGeom>
          <a:solidFill>
            <a:srgbClr val="E39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606040"/>
            <a:ext cx="2286000" cy="2286000"/>
          </a:xfrm>
          <a:prstGeom prst="ellipse">
            <a:avLst/>
          </a:prstGeom>
          <a:solidFill>
            <a:srgbClr val="D645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971800"/>
            <a:ext cx="1554480" cy="1554480"/>
          </a:xfrm>
          <a:prstGeom prst="ellipse">
            <a:avLst/>
          </a:prstGeom>
          <a:solidFill>
            <a:srgbClr val="7A3B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3337560"/>
            <a:ext cx="822960" cy="822960"/>
          </a:xfrm>
          <a:prstGeom prst="ellipse">
            <a:avLst/>
          </a:prstGeom>
          <a:solidFill>
            <a:srgbClr val="1C1B1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8308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276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FLESH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642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008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374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828800"/>
            <a:ext cx="6339535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1938528"/>
            <a:ext cx="82296" cy="47548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32120" y="1874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2176272"/>
            <a:ext cx="364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user see and tap?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65615" y="1828800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toggle, a prompt, a privacy label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615184"/>
            <a:ext cx="6339535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2724912"/>
            <a:ext cx="82296" cy="475488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532120" y="2660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FLESH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962656"/>
            <a:ext cx="364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live? Who holds the key?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265615" y="261518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device, end-to-end, or readable on a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3401568"/>
            <a:ext cx="6339535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0" y="3511296"/>
            <a:ext cx="82296" cy="475488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532120" y="3447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VEINS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flows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3749040"/>
            <a:ext cx="364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receives it — and what can they join it with?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65615" y="340156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SDKs, partners, brokers, bid requests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4187952"/>
            <a:ext cx="6339535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0" y="4297680"/>
            <a:ext cx="82296" cy="475488"/>
          </a:xfrm>
          <a:prstGeom prst="rect">
            <a:avLst/>
          </a:prstGeom>
          <a:solidFill>
            <a:srgbClr val="7A3B6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532120" y="42336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model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532120" y="4535424"/>
            <a:ext cx="364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makes money from knowing you?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265615" y="4187952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subscriptions — or advertising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4974336"/>
            <a:ext cx="6339535" cy="694944"/>
          </a:xfrm>
          <a:prstGeom prst="roundRect">
            <a:avLst>
              <a:gd name="adj" fmla="val 1842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03520" y="5084064"/>
            <a:ext cx="82296" cy="4754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532120" y="50200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532120" y="5321808"/>
            <a:ext cx="364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the platform — and who can force access?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265615" y="4974336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rules, regulators, courts, governments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 a company’s privacy, don’t read its settings. Read its income statement.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Approximate shares from 2024 annual reports (Apple FY2024) · Google–Apple search payment per 2023 US v. Google trial testimony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FOLLOW THE MONEY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money: why the three giants behave differently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architecture follows revenue. Here is where the revenue comes from.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11680" y="1874520"/>
            <a:ext cx="5645506" cy="502920"/>
          </a:xfrm>
          <a:prstGeom prst="rect">
            <a:avLst/>
          </a:prstGeom>
          <a:solidFill>
            <a:srgbClr val="D645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1874520"/>
            <a:ext cx="5462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Advertising ~98%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57186" y="1874520"/>
            <a:ext cx="115214" cy="502920"/>
          </a:xfrm>
          <a:prstGeom prst="rect">
            <a:avLst/>
          </a:prstGeom>
          <a:solidFill>
            <a:srgbClr val="D8CDB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2423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attention. Needs to know you across the web and apps.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011680" y="3063240"/>
            <a:ext cx="4378147" cy="502920"/>
          </a:xfrm>
          <a:prstGeom prst="rect">
            <a:avLst/>
          </a:prstGeom>
          <a:solidFill>
            <a:srgbClr val="D645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03120" y="3063240"/>
            <a:ext cx="4195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Advertising ~76%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89827" y="3063240"/>
            <a:ext cx="1382573" cy="502920"/>
          </a:xfrm>
          <a:prstGeom prst="rect">
            <a:avLst/>
          </a:prstGeom>
          <a:solidFill>
            <a:srgbClr val="D8CDB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81267" y="3063240"/>
            <a:ext cx="11996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~24%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attention too — but also a phone OS, a browser, and a cloud.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011680" y="4251960"/>
            <a:ext cx="4320540" cy="502920"/>
          </a:xfrm>
          <a:prstGeom prst="rect">
            <a:avLst/>
          </a:prstGeom>
          <a:solidFill>
            <a:srgbClr val="2E4A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4251960"/>
            <a:ext cx="4137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~75%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32220" y="4251960"/>
            <a:ext cx="1440180" cy="502920"/>
          </a:xfrm>
          <a:prstGeom prst="rect">
            <a:avLst/>
          </a:prstGeom>
          <a:solidFill>
            <a:srgbClr val="1E6B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3660" y="4251960"/>
            <a:ext cx="1257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 ~25%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hardware and services. Knowing you less costs it little.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1828800"/>
            <a:ext cx="3550615" cy="3749040"/>
          </a:xfrm>
          <a:prstGeom prst="roundRect">
            <a:avLst>
              <a:gd name="adj" fmla="val 3605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21040" y="1965960"/>
            <a:ext cx="3093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TWISTS NOBODY PUTS ON A SLIDE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331720"/>
            <a:ext cx="3093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~$20B a year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633472"/>
            <a:ext cx="3093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paid Apple to be Safari’s default search engine (2022, per trial testimony). Apple profits from Google’s ads.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383280"/>
            <a:ext cx="3093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sells ads too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685032"/>
            <a:ext cx="3093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search ads run on Apple’s own first-party data — which its rules don’t count as “tracking.”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434840"/>
            <a:ext cx="3093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copies Apple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36592"/>
            <a:ext cx="3093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Timeline (2024) and Private AI Compute (2025) mirror Apple’s architecture.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company can afford not to know you exactly as much as its revenue doesn’t depend on knowing you.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WSJ “What They Know” (2010) · Apple developer notices (2011–2013) · Apple iOS 14.5 release (2021)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WHY IDFA EXISTS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Apple invented the IDFA — and then fenced it in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didn’t end tracking in 2012. It gave tracking an off-ramp, then moved the default one notch at a time.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58082" y="2103120"/>
            <a:ext cx="8875532" cy="91"/>
          </a:xfrm>
          <a:prstGeom prst="line">
            <a:avLst/>
          </a:prstGeom>
          <a:noFill/>
          <a:ln w="38100">
            <a:solidFill>
              <a:srgbClr val="D6C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0066" y="1975104"/>
            <a:ext cx="256032" cy="256032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3682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6522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scandal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6522" y="25968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WSJ investigation shows popular apps sending the phone’s permanent ID (UDID) to ad networks.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8949" y="1975104"/>
            <a:ext cx="256032" cy="256032"/>
          </a:xfrm>
          <a:prstGeom prst="ellipse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62565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25405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25405" y="25968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show UDIDs can be tied to real names. Lawsuits and letters from Congress follow.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67832" y="1975104"/>
            <a:ext cx="256032" cy="256032"/>
          </a:xfrm>
          <a:prstGeom prst="ellipse">
            <a:avLst/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181448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44288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Deprecate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44288" y="25968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tells developers UDID access is going away.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6715" y="1975104"/>
            <a:ext cx="256032" cy="256032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00331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63171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IDFA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63171" y="25968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6: a separate ad ID the user can reset. Tracking gets an off-ramp.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05598" y="1975104"/>
            <a:ext cx="256032" cy="256032"/>
          </a:xfrm>
          <a:prstGeom prst="ellipse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619214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82054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482054" y="25968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read the UDID are rejected from the App Store.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6118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THE DEFAULT MOVED, ONE NOTCH AT A TIME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727448"/>
            <a:ext cx="3545738" cy="868680"/>
          </a:xfrm>
          <a:prstGeom prst="rect">
            <a:avLst/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31520" y="4800600"/>
            <a:ext cx="317997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  </a:t>
            </a:r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RESETTABLE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wipe your ad ID.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22978" y="4407408"/>
            <a:ext cx="3545738" cy="1188720"/>
          </a:xfrm>
          <a:prstGeom prst="rect">
            <a:avLst/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505858" y="4480560"/>
            <a:ext cx="317997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ZERO-ABLE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Ad Tracking hands apps all zeros.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97317" y="4087368"/>
            <a:ext cx="3545738" cy="1508760"/>
          </a:xfrm>
          <a:prstGeom prst="rect">
            <a:avLst/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80197" y="4160520"/>
            <a:ext cx="317997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PERMISSIONED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must ask. Silence means no.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fight a whole industry at once. Move the default one notch — then another — until the default is “no.”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Meta Q4 2021 earnings call · Autorité de la concurrence (Mar 31, 2025) · AGCM (Dec 22, 2025)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WHY ATT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ATT was exactly what Apple wanted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motives, all true at once — and the regulators who pushed back.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993392"/>
            <a:ext cx="530352" cy="530352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125980"/>
            <a:ext cx="265176" cy="26517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89888" y="1993392"/>
            <a:ext cx="16420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51760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became a reason to pay more for an iPhone — “Privacy. That’s iPhone.”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79394" y="182880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80562" y="1993392"/>
            <a:ext cx="530352" cy="530352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150" y="2125980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220642" y="1993392"/>
            <a:ext cx="16420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ASYMMETRY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580562" y="2651760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costs Apple little and ad-funded rivals a lot. Meta put its 2022 hit at about $10 billion.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210148" y="182880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11316" y="1993392"/>
            <a:ext cx="530352" cy="530352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2125980"/>
            <a:ext cx="265176" cy="26517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1396" y="1993392"/>
            <a:ext cx="16420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RULE-MAKER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11316" y="2651760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defines “tracking,” writes the prompt, and runs the only store on the phone.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9040901" y="182880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42069" y="1993392"/>
            <a:ext cx="530352" cy="530352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657" y="2125980"/>
            <a:ext cx="265176" cy="26517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882149" y="1993392"/>
            <a:ext cx="16420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FIRST-PARTY EDGE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242069" y="2651760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Apple’s own ads use App Store data — which its definition doesn’t count as tracking.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4023360"/>
            <a:ext cx="5410048" cy="1554480"/>
          </a:xfrm>
          <a:prstGeom prst="roundRect">
            <a:avLst>
              <a:gd name="adj" fmla="val 8235"/>
            </a:avLst>
          </a:prstGeom>
          <a:solidFill>
            <a:srgbClr val="D2E8E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77240" y="4133088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USERS GOT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777240" y="4407408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honest, identical question in every app — and a “no” that apps must respect. When asked plainly, most people say no.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233008" y="4023360"/>
            <a:ext cx="5410048" cy="1554480"/>
          </a:xfrm>
          <a:prstGeom prst="roundRect">
            <a:avLst>
              <a:gd name="adj" fmla="val 8235"/>
            </a:avLst>
          </a:prstGeom>
          <a:solidFill>
            <a:srgbClr val="F7D5CB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461608" y="4133088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REGULATORS SAID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461608" y="4407408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fined Apple €150M (2025) and Italy €98.6M (2025) — not for protecting privacy, but for how: third-party apps needed two consent prompts while Apple’s own apps didn’t.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are true: ATT protected users and advantaged Apple. Good privacy can also be good strategy.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Maps privacy overview · Google Timeline help · Google amicus brief, Chatrie (2026)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MAPS vs MAPS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Maps vs Google Maps: same trip, two philosophies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check first: Google moved Timeline onto your phone in 2024–25. The real gap is identity and incentive.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828800"/>
            <a:ext cx="4358488" cy="384048"/>
          </a:xfrm>
          <a:prstGeom prst="roundRect">
            <a:avLst>
              <a:gd name="adj" fmla="val 28571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MAPS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84568" y="1828800"/>
            <a:ext cx="4358488" cy="384048"/>
          </a:xfrm>
          <a:prstGeom prst="roundRect">
            <a:avLst>
              <a:gd name="adj" fmla="val 28571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31720"/>
            <a:ext cx="210312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2331720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D9E0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26080" y="2331720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sign-in needed. Requests use random identifiers that rotate.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568" y="2331720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F7D5C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21728" y="2331720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Google Account when you’re signed in.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990088"/>
            <a:ext cx="210312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you’ve been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88920" y="2990088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D9E0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2990088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Locations stay on your device, end-to-end encrypted in sync.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84568" y="2990088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F7D5C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21728" y="2990088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now lives on your device, with an optional end-to-end encrypted backup.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48456"/>
            <a:ext cx="210312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searched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3648456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D9E0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26080" y="3648456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an account; precise location fuzzed over time.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84568" y="3648456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F7D5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21728" y="3648456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Web &amp; App Activity if that setting is on — with auto-delete options.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06824"/>
            <a:ext cx="210312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for 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4306824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D9E0F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926080" y="4306824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and services revenue.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84568" y="4306824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F7D5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21728" y="4306824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across Search, YouTube, and Maps.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65192"/>
            <a:ext cx="2103120" cy="585216"/>
          </a:xfrm>
          <a:prstGeom prst="roundRect">
            <a:avLst>
              <a:gd name="adj" fmla="val 18750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test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88920" y="4965192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D9E0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926080" y="4965192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server-side history to hand over.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84568" y="4965192"/>
            <a:ext cx="4358488" cy="585216"/>
          </a:xfrm>
          <a:prstGeom prst="roundRect">
            <a:avLst>
              <a:gd name="adj" fmla="val 12500"/>
            </a:avLst>
          </a:prstGeom>
          <a:solidFill>
            <a:srgbClr val="F7D5C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21728" y="4965192"/>
            <a:ext cx="408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geofence warrants for years — until Timeline moved on-device (2025).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isn’t the map. It’s whether the map knows it’s you — and who profits if it does.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Google amicus brief (Mar 2026) · Supreme Court, Chatrie v. United States (June 2026) · Apple Support (UK ADP)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SUBPOENA TEST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you keep is data you can be forced to give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on a server is a copy a court, a government, or an attacker can demand.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657600" cy="3749040"/>
          </a:xfrm>
          <a:prstGeom prst="roundRect">
            <a:avLst>
              <a:gd name="adj" fmla="val 3500"/>
            </a:avLst>
          </a:prstGeom>
          <a:solidFill>
            <a:srgbClr val="7A3B6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1993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BD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GEOFENCE WARRANT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 us every phone that was near this spot, at this time.”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611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suspect needed — just a company that kept everyone’s location. Innocent people inside the circle became leads.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works if someone kept the data.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0560" y="1828800"/>
            <a:ext cx="716249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63440" y="18288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of requests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828800"/>
            <a:ext cx="5059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says it objected to more than 3,000 geofence warrants on constitutional grounds.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587752"/>
            <a:ext cx="716249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63440" y="258775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2023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587752"/>
            <a:ext cx="5059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announces Location History will be stored on the device.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3346704"/>
            <a:ext cx="716249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63440" y="334670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2025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346704"/>
            <a:ext cx="5059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server-side Location History is deleted or migrated. Google can no longer answer geofence warrants.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4105656"/>
            <a:ext cx="716249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63440" y="410565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105656"/>
            <a:ext cx="5059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Court, 6–3 (Chatrie): location history held by a company is protected — police access is a Fourth Amendment search.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4864608"/>
            <a:ext cx="7162495" cy="676656"/>
          </a:xfrm>
          <a:prstGeom prst="roundRect">
            <a:avLst>
              <a:gd name="adj" fmla="val 1891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663440" y="486460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Apple parallel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864608"/>
            <a:ext cx="5059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with a UK order, Apple pulled Advanced Data Protection for new UK users rather than build a key it could be forced to use.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data that can’t be subpoenaed, breached, or sold is data you never kept.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Google Docs Editors Help (version history, sharing roles) · Google Drive trash policy · scenario is illustrative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HISTORY HOLE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Deleted isn’t gone: the Google Docs version-history hole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removed the secret on Tuesday. On Friday you shared the doc as an editor. They can read Monday.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1520190" cy="2103120"/>
          </a:xfrm>
          <a:prstGeom prst="roundRect">
            <a:avLst>
              <a:gd name="adj" fmla="val 8421"/>
            </a:avLst>
          </a:prstGeom>
          <a:solidFill>
            <a:srgbClr val="F7D5C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193852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331720"/>
            <a:ext cx="1245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v1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697480"/>
            <a:ext cx="12458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sheet pasted in: 40 names, 40 numbers.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5406" y="2743200"/>
            <a:ext cx="201168" cy="256032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3150" y="1828800"/>
            <a:ext cx="1520190" cy="2103120"/>
          </a:xfrm>
          <a:prstGeom prst="roundRect">
            <a:avLst>
              <a:gd name="adj" fmla="val 8421"/>
            </a:avLst>
          </a:prstGeom>
          <a:solidFill>
            <a:srgbClr val="FBE3B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80310" y="193852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480310" y="2331720"/>
            <a:ext cx="1245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80310" y="2697480"/>
            <a:ext cx="12458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deleted. The doc looks safe.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99916" y="2743200"/>
            <a:ext cx="201168" cy="256032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1" name="Shape 19"/>
          <p:cNvSpPr/>
          <p:nvPr/>
        </p:nvSpPr>
        <p:spPr>
          <a:xfrm>
            <a:off x="4137660" y="1828800"/>
            <a:ext cx="1520190" cy="2103120"/>
          </a:xfrm>
          <a:prstGeom prst="roundRect">
            <a:avLst>
              <a:gd name="adj" fmla="val 8421"/>
            </a:avLst>
          </a:prstGeom>
          <a:solidFill>
            <a:srgbClr val="D9E0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74820" y="193852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274820" y="2331720"/>
            <a:ext cx="1245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74820" y="2697480"/>
            <a:ext cx="12458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contractor is added as an Editor.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94426" y="2743200"/>
            <a:ext cx="201168" cy="256032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6" name="Shape 24"/>
          <p:cNvSpPr/>
          <p:nvPr/>
        </p:nvSpPr>
        <p:spPr>
          <a:xfrm>
            <a:off x="5932170" y="1828800"/>
            <a:ext cx="1520190" cy="2103120"/>
          </a:xfrm>
          <a:prstGeom prst="roundRect">
            <a:avLst>
              <a:gd name="adj" fmla="val 8421"/>
            </a:avLst>
          </a:prstGeom>
          <a:solidFill>
            <a:srgbClr val="E8DF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69330" y="193852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4PM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069330" y="2331720"/>
            <a:ext cx="1245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69330" y="2697480"/>
            <a:ext cx="12458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› Version history › Monday. Every name, every number.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CAN OPEN THE PAST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07408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44074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0" y="4407408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F7D5C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286000" y="44074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023360" y="4407408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023360" y="44074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4407408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D2E8E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60720" y="44074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ctr"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074920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cruel part: an editor added today sees every version from before they joined — and a link set to “anyone can edit” hands the history to strangers.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26680" y="1828800"/>
            <a:ext cx="3916375" cy="3840480"/>
          </a:xfrm>
          <a:prstGeom prst="roundRect">
            <a:avLst>
              <a:gd name="adj" fmla="val 3333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955280" y="1965960"/>
            <a:ext cx="3459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CLEAN-ROOM FIX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2359152"/>
            <a:ext cx="365760" cy="36576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458200" y="23134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delete one old version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2587752"/>
            <a:ext cx="3001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Docs keep their history; there is no per-version delete.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3182112"/>
            <a:ext cx="365760" cy="365760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458200" y="313639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copy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458200" y="3410712"/>
            <a:ext cx="3001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› Make a copy. History doesn’t travel — leave comments unticked.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955280" y="4005072"/>
            <a:ext cx="365760" cy="365760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458200" y="395935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copy, not the original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458200" y="4233672"/>
            <a:ext cx="3001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and commenters never see history at all.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4828032"/>
            <a:ext cx="365760" cy="365760"/>
          </a:xfrm>
          <a:prstGeom prst="ellipse">
            <a:avLst/>
          </a:prstGeom>
          <a:solidFill>
            <a:srgbClr val="F2C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458200" y="478231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original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458200" y="5056632"/>
            <a:ext cx="3001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 holds it 30 days; your org’s retention rules may hold it longer.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to edit the present is permission to read the past.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Cases: UK Iraq dossier Word metadata (2003) · Manafort court filing redaction (2019) · GitHub guidance on removing secrets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HISTORY LAYER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places “deleted” data keeps living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the loudest example, not the only one. Every tool that remembers edits is a leak waiting for the wrong reader.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93392"/>
            <a:ext cx="475488" cy="47548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12264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98448" y="193852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HISTORY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222199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259689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Sheets, Slides, Notion, Confluence: every editor can rewind.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72536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55416" y="1993392"/>
            <a:ext cx="475488" cy="47548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288" y="211226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122344" y="193852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METADATA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122344" y="222199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metadata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3555416" y="259689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2003 UK government dossier’s Word file named the officials who had edited it.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96432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79312" y="1993392"/>
            <a:ext cx="475488" cy="475488"/>
          </a:xfrm>
          <a:prstGeom prst="ellipse">
            <a:avLst/>
          </a:prstGeom>
          <a:solidFill>
            <a:srgbClr val="1C1B1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84" y="211226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946240" y="193852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REDACTION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946240" y="222199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redaction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379312" y="259689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2019 court filing for Paul Manafort used black boxes over text you could still copy.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020327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03207" y="1993392"/>
            <a:ext cx="475488" cy="47548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079" y="2112264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70135" y="193852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HISTORY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770135" y="222199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203207" y="259689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committed and then deleted lives on in every clone and fork. Rotate it.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8640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31520" y="3913632"/>
            <a:ext cx="475488" cy="47548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03250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98448" y="385876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 MESSAGES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298448" y="414223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chat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731520" y="451713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Edits, recalls, and unsends rarely reach copies already in inboxes, exports, and backups.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3372536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555416" y="3913632"/>
            <a:ext cx="475488" cy="475488"/>
          </a:xfrm>
          <a:prstGeom prst="ellipse">
            <a:avLst/>
          </a:prstGeom>
          <a:solidFill>
            <a:srgbClr val="1E6B6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288" y="4032504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122344" y="385876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TRASH &amp; BACKUPS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4122344" y="414223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&amp; servers</a:t>
            </a:r>
            <a:endParaRPr lang="en-US" sz="1050" dirty="0"/>
          </a:p>
        </p:txBody>
      </p:sp>
      <p:sp>
        <p:nvSpPr>
          <p:cNvPr id="46" name="Text 38"/>
          <p:cNvSpPr txBox="1"/>
          <p:nvPr/>
        </p:nvSpPr>
        <p:spPr>
          <a:xfrm>
            <a:off x="3555416" y="451713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bins, snapshots, and legal holds keep “deleted” files for weeks or years.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6196432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379312" y="3913632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184" y="4032504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946240" y="385876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 &amp; CACHES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6946240" y="414223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previews</a:t>
            </a:r>
            <a:endParaRPr lang="en-US" sz="1050" dirty="0"/>
          </a:p>
        </p:txBody>
      </p:sp>
      <p:sp>
        <p:nvSpPr>
          <p:cNvPr id="52" name="Text 43"/>
          <p:cNvSpPr txBox="1"/>
          <p:nvPr/>
        </p:nvSpPr>
        <p:spPr>
          <a:xfrm>
            <a:off x="6379312" y="451713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indexes, previews, and thumbnails keep their own copy of what you removed.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9020327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203207" y="3913632"/>
            <a:ext cx="475488" cy="47548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2079" y="4032504"/>
            <a:ext cx="237744" cy="237744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770135" y="3858768"/>
            <a:ext cx="175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MEMORY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770135" y="4142232"/>
            <a:ext cx="175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&amp; models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9203207" y="4517136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assistant’s memory, logs, or training set may hold what the source no longer does.</a:t>
            </a:r>
            <a:endParaRPr lang="en-US" sz="1200" dirty="0"/>
          </a:p>
        </p:txBody>
      </p:sp>
      <p:sp>
        <p:nvSpPr>
          <p:cNvPr id="59" name="Shape 49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0" name="Text 50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removes it from your view. History keeps it for everyone else.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HISTORY THAT FORGETS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history that knows who it’s for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is a feature and a leak. Six design rules for engineers — and a one-minute check for everyone else.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011680"/>
            <a:ext cx="420624" cy="420624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975104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permissions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04288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today’s document shouldn’t automatically mean seeing every past version.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4820" y="1828800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57700" y="2011680"/>
            <a:ext cx="420624" cy="420624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06340" y="1975104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across time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06340" y="2304288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redaction must reach old versions, backups, and indexes — with an audit trail.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3310128"/>
            <a:ext cx="420624" cy="420624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273552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snapshots, not live files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602736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flattened copy to outsiders; keep the working draft inside.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74820" y="3127248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457700" y="3310128"/>
            <a:ext cx="420624" cy="420624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06340" y="3273552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history a retention clock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06340" y="3602736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versions are data too: expire them like logs.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425696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608576"/>
            <a:ext cx="420624" cy="420624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572000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past on share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901184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new person gets access, check old versions for secrets and personal data.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74820" y="4425696"/>
            <a:ext cx="3497580" cy="1170432"/>
          </a:xfrm>
          <a:prstGeom prst="roundRect">
            <a:avLst>
              <a:gd name="adj" fmla="val 1093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457700" y="4608576"/>
            <a:ext cx="420624" cy="420624"/>
          </a:xfrm>
          <a:prstGeom prst="ellipse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006340" y="4572000"/>
            <a:ext cx="2628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exposure as permanent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006340" y="4901184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key or password is burned. Rotate it — deleting isn’t enough.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1828800"/>
            <a:ext cx="3596335" cy="3767328"/>
          </a:xfrm>
          <a:prstGeom prst="roundRect">
            <a:avLst>
              <a:gd name="adj" fmla="val 3560"/>
            </a:avLst>
          </a:prstGeom>
          <a:solidFill>
            <a:srgbClr val="FBEDB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75320" y="1965960"/>
            <a:ext cx="3139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HIT SHARE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75320" y="2414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A6A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0" y="2359152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person need Editor, or just Viewer?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75320" y="30358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A6A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0" y="2980944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link set to “anyone”?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75320" y="36576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A6A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86800" y="3602736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anything sensitive ever in this file?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75320" y="42793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A6A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86800" y="4224528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resolved comments hiding secrets?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75320" y="490118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A6A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86800" y="484632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clean copy be safer?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was ever in the document, assume it’s still in the document.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23andMe filings (2023) · MOVEit / Snowflake public disclosures (2023–24) · Apple statement (2014)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WHEN IT HITS THE FAN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breach spreads: four real multipliers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rarely steal everything directly. They find a door, then ride the connections.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410048" cy="1810512"/>
          </a:xfrm>
          <a:prstGeom prst="roundRect">
            <a:avLst>
              <a:gd name="adj" fmla="val 707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93392"/>
            <a:ext cx="502920" cy="502920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119122"/>
            <a:ext cx="251460" cy="2514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71600" y="195681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FEATURE THAT LINKS PEOPLE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23113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23andMe · 2023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2633472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4EDE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2670048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~14,000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044952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entered with reused passwords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82264" y="2633472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7D5C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91992" y="2670048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~6.9 million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3591992" y="3044952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exposed through the “DNA Relatives” feature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116504" y="2944368"/>
            <a:ext cx="274320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3" name="Shape 20"/>
          <p:cNvSpPr/>
          <p:nvPr/>
        </p:nvSpPr>
        <p:spPr>
          <a:xfrm>
            <a:off x="6233008" y="1828800"/>
            <a:ext cx="5410048" cy="1810512"/>
          </a:xfrm>
          <a:prstGeom prst="roundRect">
            <a:avLst>
              <a:gd name="adj" fmla="val 707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15888" y="1993392"/>
            <a:ext cx="502920" cy="502920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119122"/>
            <a:ext cx="251460" cy="2514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055968" y="195681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SHARED VENDOR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055968" y="223113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· 2023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15888" y="2633472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4EDE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25616" y="2670048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flaw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6525616" y="3044952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file-transfer tool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166631" y="2633472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BE3BD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276359" y="2670048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35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9276359" y="3044952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— tens of millions of people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8800871" y="2944368"/>
            <a:ext cx="274320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35" name="Shape 31"/>
          <p:cNvSpPr/>
          <p:nvPr/>
        </p:nvSpPr>
        <p:spPr>
          <a:xfrm>
            <a:off x="548640" y="3767328"/>
            <a:ext cx="5410048" cy="1810512"/>
          </a:xfrm>
          <a:prstGeom prst="roundRect">
            <a:avLst>
              <a:gd name="adj" fmla="val 707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057650"/>
            <a:ext cx="251460" cy="25146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371600" y="389534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MISSING SECOND FACTOR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1371600" y="4169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customers · 2024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31520" y="4572000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4EDE1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41248" y="4608576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stolen passwords</a:t>
            </a:r>
            <a:endParaRPr lang="en-US" sz="1900" dirty="0"/>
          </a:p>
        </p:txBody>
      </p:sp>
      <p:sp>
        <p:nvSpPr>
          <p:cNvPr id="42" name="Text 37"/>
          <p:cNvSpPr txBox="1"/>
          <p:nvPr/>
        </p:nvSpPr>
        <p:spPr>
          <a:xfrm>
            <a:off x="841248" y="4983480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accounts with no MFA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3482264" y="4572000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EBD7E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591992" y="4608576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A3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all</a:t>
            </a:r>
            <a:endParaRPr lang="en-US" sz="1900" dirty="0"/>
          </a:p>
        </p:txBody>
      </p:sp>
      <p:sp>
        <p:nvSpPr>
          <p:cNvPr id="45" name="Text 40"/>
          <p:cNvSpPr txBox="1"/>
          <p:nvPr/>
        </p:nvSpPr>
        <p:spPr>
          <a:xfrm>
            <a:off x="3591992" y="4983480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wireless customers’ call and text records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3116504" y="4882896"/>
            <a:ext cx="274320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47" name="Shape 42"/>
          <p:cNvSpPr/>
          <p:nvPr/>
        </p:nvSpPr>
        <p:spPr>
          <a:xfrm>
            <a:off x="6233008" y="3767328"/>
            <a:ext cx="5410048" cy="1810512"/>
          </a:xfrm>
          <a:prstGeom prst="roundRect">
            <a:avLst>
              <a:gd name="adj" fmla="val 707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415888" y="3931920"/>
            <a:ext cx="502920" cy="502920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4057650"/>
            <a:ext cx="251460" cy="251460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055968" y="389534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HUMAN DOOR</a:t>
            </a:r>
            <a:endParaRPr lang="en-US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7055968" y="4169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photos · 2014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6415888" y="4572000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F4EDE1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6525616" y="4608576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900" dirty="0"/>
          </a:p>
        </p:txBody>
      </p:sp>
      <p:sp>
        <p:nvSpPr>
          <p:cNvPr id="54" name="Text 48"/>
          <p:cNvSpPr txBox="1"/>
          <p:nvPr/>
        </p:nvSpPr>
        <p:spPr>
          <a:xfrm>
            <a:off x="6525616" y="4983480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passwords and security questions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9166631" y="4572000"/>
            <a:ext cx="2293544" cy="896112"/>
          </a:xfrm>
          <a:prstGeom prst="roundRect">
            <a:avLst>
              <a:gd name="adj" fmla="val 8163"/>
            </a:avLst>
          </a:prstGeom>
          <a:solidFill>
            <a:srgbClr val="D9E0F4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276359" y="4608576"/>
            <a:ext cx="207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celebrity accounts</a:t>
            </a:r>
            <a:endParaRPr lang="en-US" sz="1900" dirty="0"/>
          </a:p>
        </p:txBody>
      </p:sp>
      <p:sp>
        <p:nvSpPr>
          <p:cNvPr id="57" name="Text 51"/>
          <p:cNvSpPr txBox="1"/>
          <p:nvPr/>
        </p:nvSpPr>
        <p:spPr>
          <a:xfrm>
            <a:off x="9276359" y="4983480"/>
            <a:ext cx="207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— Apple then expanded two-factor and alerts</a:t>
            </a:r>
            <a:endParaRPr lang="en-US" sz="1050" dirty="0"/>
          </a:p>
        </p:txBody>
      </p:sp>
      <p:sp>
        <p:nvSpPr>
          <p:cNvPr id="58" name="Shape 52"/>
          <p:cNvSpPr/>
          <p:nvPr/>
        </p:nvSpPr>
        <p:spPr>
          <a:xfrm>
            <a:off x="8800871" y="4882896"/>
            <a:ext cx="274320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59" name="Shape 53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60" name="Text 54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size = the doors you left open × the people each door can see.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Art. 33: 72 hours · SEC cyber rule: 4 business days after materiality (US public cos.) · plus state laws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STOP THE SPREAD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hits the fan: contain it like a fire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survive fires because of fire doors, not smoke alarms. Build the doors before the smoke.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2567864" cy="822960"/>
          </a:xfrm>
          <a:prstGeom prst="roundRect">
            <a:avLst>
              <a:gd name="adj" fmla="val 11111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fire doors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3080" y="2103120"/>
            <a:ext cx="201168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88920"/>
            <a:ext cx="2567864" cy="2788920"/>
          </a:xfrm>
          <a:prstGeom prst="roundRect">
            <a:avLst>
              <a:gd name="adj" fmla="val 498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08376"/>
            <a:ext cx="109728" cy="109728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2926080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keys per user or tenant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9584"/>
            <a:ext cx="109728" cy="109728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3447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less, expire sooner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50792"/>
            <a:ext cx="109728" cy="109728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" y="3968496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and MFA everywhere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109728" cy="109728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4489704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every vendor and copy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093208"/>
            <a:ext cx="109728" cy="109728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" y="5010912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switches for risky features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90824" y="1828800"/>
            <a:ext cx="2567864" cy="822960"/>
          </a:xfrm>
          <a:prstGeom prst="roundRect">
            <a:avLst>
              <a:gd name="adj" fmla="val 11111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HOURS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doors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95264" y="2103120"/>
            <a:ext cx="201168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824" y="2788920"/>
            <a:ext cx="2567864" cy="2788920"/>
          </a:xfrm>
          <a:prstGeom prst="roundRect">
            <a:avLst>
              <a:gd name="adj" fmla="val 498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73704" y="3008376"/>
            <a:ext cx="109728" cy="109728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74872" y="2926080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credentials and keys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73704" y="3529584"/>
            <a:ext cx="109728" cy="109728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74872" y="3447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kill switch on the spreading feature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73704" y="4050792"/>
            <a:ext cx="109728" cy="109728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74872" y="3968496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unusual outbound 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73704" y="4572000"/>
            <a:ext cx="109728" cy="109728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774872" y="4489704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evidence — don’t wipe it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33008" y="1828800"/>
            <a:ext cx="2567864" cy="822960"/>
          </a:xfrm>
          <a:prstGeom prst="roundRect">
            <a:avLst>
              <a:gd name="adj" fmla="val 11111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DAYS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and tell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37447" y="2103120"/>
            <a:ext cx="201168" cy="274320"/>
          </a:xfrm>
          <a:prstGeom prst="rightArrow">
            <a:avLst/>
          </a:prstGeom>
          <a:solidFill>
            <a:srgbClr val="1C1B19"/>
          </a:solidFill>
          <a:ln/>
        </p:spPr>
      </p:sp>
      <p:sp>
        <p:nvSpPr>
          <p:cNvPr id="37" name="Shape 35"/>
          <p:cNvSpPr/>
          <p:nvPr/>
        </p:nvSpPr>
        <p:spPr>
          <a:xfrm>
            <a:off x="6233008" y="2788920"/>
            <a:ext cx="2567864" cy="2788920"/>
          </a:xfrm>
          <a:prstGeom prst="roundRect">
            <a:avLst>
              <a:gd name="adj" fmla="val 498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15888" y="3008376"/>
            <a:ext cx="109728" cy="109728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17056" y="2926080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people, which fields, since when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15888" y="3529584"/>
            <a:ext cx="109728" cy="109728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17056" y="3447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Regulators: 72 hours under GDPR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15888" y="4050792"/>
            <a:ext cx="109728" cy="109728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17056" y="3968496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Investors: 4 business days if material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15888" y="4572000"/>
            <a:ext cx="109728" cy="109728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617056" y="4489704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plain words, real steps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075191" y="1828800"/>
            <a:ext cx="2567864" cy="822960"/>
          </a:xfrm>
          <a:prstGeom prst="roundRect">
            <a:avLst>
              <a:gd name="adj" fmla="val 11111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stronger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75191" y="2788920"/>
            <a:ext cx="2567864" cy="2788920"/>
          </a:xfrm>
          <a:prstGeom prst="roundRect">
            <a:avLst>
              <a:gd name="adj" fmla="val 498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58071" y="3008376"/>
            <a:ext cx="109728" cy="10972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459239" y="2926080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resets, rotate everything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58071" y="3529584"/>
            <a:ext cx="109728" cy="10972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59239" y="3447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 copies you shouldn’t have kept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58071" y="4050792"/>
            <a:ext cx="109728" cy="10972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459239" y="3968496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→ a new automated gate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258071" y="4572000"/>
            <a:ext cx="109728" cy="10972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59239" y="4489704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would this fail smaller now?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can’t stop every fire. You can decide, in advance, how many rooms it reaches.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&amp; Meta public statements, earnings calls, and filings · AGCM · Apple DMA interoperability statement (Dec 2024)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APPLE vs META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vs Meta: a decade-long feud, in eight moves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dates. The rhetoric escalates exactly when the money is at 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63644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270684" y="202996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239572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Cook’s privacy letter: when a service is free, you’re not the customer — you’re the product.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67964" y="182880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67964" y="1828800"/>
            <a:ext cx="263644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32556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90008" y="202996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32556" y="239572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Cambridge Analytica, Cook says Apple could make a fortune monetizing customers — and chooses not 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7288" y="182880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7288" y="1828800"/>
            <a:ext cx="263644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1880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909331" y="202996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351880" y="239572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revokes Facebook’s internal-app certificate over a research app that paid users, including teens, for deep phone access.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06611" y="182880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611" y="1828800"/>
            <a:ext cx="2636444" cy="91440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71203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202996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71203" y="239572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newspaper ads: “standing up to Apple for small businesses everywhere.”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74904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749040"/>
            <a:ext cx="263644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2270684" y="395020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31596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ships in iOS 14.5. Cook: a business built on misleading users deserves reform, not praise.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67964" y="374904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67964" y="3749040"/>
            <a:ext cx="2636444" cy="91440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532556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090008" y="395020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532556" y="431596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estimates a ~$10B revenue hit from ATT; its stock loses about a quarter of its value in a day.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87288" y="374904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7288" y="3749040"/>
            <a:ext cx="2636444" cy="91440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51880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909331" y="395020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351880" y="431596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complaint helps trigger Italy’s ATT probe — which ends in a €98.6M fine (2025).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06611" y="3749040"/>
            <a:ext cx="2636444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006611" y="3749040"/>
            <a:ext cx="2636444" cy="9144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171203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10728655" y="3950208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171203" y="4315968"/>
            <a:ext cx="23072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says Meta’s 15 interoperability requests under EU rules would expose users’ data.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isn’t a privacy debate. It’s two business models fighting over one screen.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FTC–Facebook settlement (2019) · company statements · regulatory decisions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DECODING THE FEUD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owns the road. Meta owns the billboards.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hyperbole? Each side’s strongest argument is real — and so is its weakest spot.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657600" cy="3749040"/>
          </a:xfrm>
          <a:prstGeom prst="roundRect">
            <a:avLst>
              <a:gd name="adj" fmla="val 3500"/>
            </a:avLst>
          </a:prstGeom>
          <a:solidFill>
            <a:srgbClr val="D9E0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APPLE’S CASE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331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deserve a plain choice. Offered one, most declined to be tracked.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69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spot: Apple is referee and player. Regulators found its own apps got an easier path.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1828800"/>
            <a:ext cx="3657600" cy="3749040"/>
          </a:xfrm>
          <a:prstGeom prst="roundRect">
            <a:avLst>
              <a:gd name="adj" fmla="val 3500"/>
            </a:avLst>
          </a:prstGeom>
          <a:solidFill>
            <a:srgbClr val="F7D5C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META’S CASE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31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targeted ads let small businesses compete. Apple changed the rules on everyone else’s business.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069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spot: its record — Cambridge Analytica and a $5B FTC penalty (2019).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322015" cy="3749040"/>
          </a:xfrm>
          <a:prstGeom prst="roundRect">
            <a:avLst>
              <a:gd name="adj" fmla="val 3854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49640" y="1965960"/>
            <a:ext cx="2864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ACTUALLY HAPPENED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331720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didn’t vanish.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633472"/>
            <a:ext cx="2864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moved server-side — conversions APIs, first-party logins, modeled targeting.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383280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recovered.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685032"/>
            <a:ext cx="2864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 targeting rebuilt performance with less third-party data.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4434840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Middlemen lost.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549640" y="4736592"/>
            <a:ext cx="2864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brokers and small ad networks with no first-party data were squeezed hardest.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rules don’t kill the demand for data. They move it toward whoever sits closest to the user.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example: NYT v. OpenAI preservation order (May 2025), lifted for new chats from Sept 26, 2025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WHY AI CHANGES EVERYTHING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breaks eight assumptions privacy was built 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in this guide assumed data sits in rows, used for one purpose, deleted on request. AI dissolves all three.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01168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7860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to run a feature. Now useful to train a model.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72536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55416" y="2011680"/>
            <a:ext cx="457200" cy="457200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22344" y="201168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55416" y="257860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delete a row. You can’t easily delete what a model learned from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6432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79312" y="2011680"/>
            <a:ext cx="457200" cy="45720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6240" y="201168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79312" y="257860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post a photo was never permission to train on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20327" y="182880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03207" y="2011680"/>
            <a:ext cx="457200" cy="45720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770135" y="201168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03207" y="257860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guess what you never shared — health, mood, orientation — from what you did.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393192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49884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truly helpful assistant needs your mail, messages, and calendar in one place.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72536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555416" y="393192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122344" y="393192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55416" y="449884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were built per app. An agent acts across all of them at once.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96432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379312" y="3931920"/>
            <a:ext cx="457200" cy="45720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946240" y="393192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= COMMAND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79312" y="449884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 or email can carry instructions that make an agent leak your data.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20327" y="3749040"/>
            <a:ext cx="2622728" cy="1783080"/>
          </a:xfrm>
          <a:prstGeom prst="roundRect">
            <a:avLst>
              <a:gd name="adj" fmla="val 71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03207" y="3931920"/>
            <a:ext cx="457200" cy="457200"/>
          </a:xfrm>
          <a:prstGeom prst="ellipse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770135" y="3931920"/>
            <a:ext cx="175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203207" y="4498848"/>
            <a:ext cx="2256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records: a 2025 court order made OpenAI keep even deleted chats for months.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makes every record training data, every guess a disclosure, every document a command.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public reporting and company statements, 2023–2025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AI IN THE WILD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AI features that became privacy lessons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was malicious. Each was a feature whose privacy decision hid inside a default.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37490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11680"/>
            <a:ext cx="566928" cy="566928"/>
          </a:xfrm>
          <a:prstGeom prst="ellipse">
            <a:avLst/>
          </a:prstGeom>
          <a:solidFill>
            <a:srgbClr val="D645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53412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282114" y="214884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9748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Recall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127248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3328416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everything, every few seconds — and researchers could read the stored database.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480560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681728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Relaunched opt-in, encrypted, gated by Windows Hello.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79394" y="1828800"/>
            <a:ext cx="2602154" cy="37490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580562" y="2011680"/>
            <a:ext cx="566928" cy="566928"/>
          </a:xfrm>
          <a:prstGeom prst="ellipse">
            <a:avLst/>
          </a:prstGeom>
          <a:solidFill>
            <a:srgbClr val="7A3B6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294" y="2153412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12868" y="214884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580562" y="269748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AI app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3580562" y="3127248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580562" y="3328416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“Discover” feed where some people unknowingly published private conversations.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580562" y="4480560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3580562" y="4681728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added clearer warnings before sharing.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210148" y="1828800"/>
            <a:ext cx="2602154" cy="37490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11316" y="2011680"/>
            <a:ext cx="566928" cy="566928"/>
          </a:xfrm>
          <a:prstGeom prst="ellipse">
            <a:avLst/>
          </a:prstGeom>
          <a:solidFill>
            <a:srgbClr val="E39A2D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153412"/>
            <a:ext cx="283464" cy="28346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943621" y="214884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411316" y="269748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 &amp; ChatGPT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6411316" y="3127248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411316" y="3328416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pasted internal source code into a public chatbot to debug it.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6411316" y="4480560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850" dirty="0"/>
          </a:p>
        </p:txBody>
      </p:sp>
      <p:sp>
        <p:nvSpPr>
          <p:cNvPr id="37" name="Text 32"/>
          <p:cNvSpPr txBox="1"/>
          <p:nvPr/>
        </p:nvSpPr>
        <p:spPr>
          <a:xfrm>
            <a:off x="6411316" y="4681728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restricted generative AI tools at work.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9040901" y="1828800"/>
            <a:ext cx="2602154" cy="3749040"/>
          </a:xfrm>
          <a:prstGeom prst="roundRect">
            <a:avLst>
              <a:gd name="adj" fmla="val 492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242069" y="2011680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2153412"/>
            <a:ext cx="283464" cy="28346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0774375" y="214884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9242069" y="269748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Deleted chats, kept</a:t>
            </a:r>
            <a:endParaRPr lang="en-US" sz="1700" dirty="0"/>
          </a:p>
        </p:txBody>
      </p:sp>
      <p:sp>
        <p:nvSpPr>
          <p:cNvPr id="43" name="Text 37"/>
          <p:cNvSpPr txBox="1"/>
          <p:nvPr/>
        </p:nvSpPr>
        <p:spPr>
          <a:xfrm>
            <a:off x="9242069" y="3127248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850" dirty="0"/>
          </a:p>
        </p:txBody>
      </p:sp>
      <p:sp>
        <p:nvSpPr>
          <p:cNvPr id="44" name="Text 38"/>
          <p:cNvSpPr txBox="1"/>
          <p:nvPr/>
        </p:nvSpPr>
        <p:spPr>
          <a:xfrm>
            <a:off x="9242069" y="3328416"/>
            <a:ext cx="21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copyright lawsuit led a court to order OpenAI to preserve chats users had deleted.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9242069" y="4480560"/>
            <a:ext cx="2199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850" dirty="0"/>
          </a:p>
        </p:txBody>
      </p:sp>
      <p:sp>
        <p:nvSpPr>
          <p:cNvPr id="46" name="Text 40"/>
          <p:cNvSpPr txBox="1"/>
          <p:nvPr/>
        </p:nvSpPr>
        <p:spPr>
          <a:xfrm>
            <a:off x="9242069" y="4681728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was lifted for new chats in September 2025.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Text 42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 button, a memory, a screenshot timer: each is a privacy decision disguised as a feature.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Apple Private Cloud Compute (2024) · Google Private AI Compute announcement (Nov 2025)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WHERE AI THINKS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thinking happen? Three AI architectures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is converging on the design Apple shipped in 2024: rivals now build the same kind of enclave.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28800"/>
            <a:ext cx="2890418" cy="731520"/>
          </a:xfrm>
          <a:prstGeom prst="roundRect">
            <a:avLst>
              <a:gd name="adj" fmla="val 1250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BY DEFAULT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it all to the server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25058" y="1828800"/>
            <a:ext cx="2890418" cy="731520"/>
          </a:xfrm>
          <a:prstGeom prst="roundRect">
            <a:avLst>
              <a:gd name="adj" fmla="val 12500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VERIFIABLE PRIVATE CLOUD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Sealed servers you can check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52637" y="1828800"/>
            <a:ext cx="2890418" cy="731520"/>
          </a:xfrm>
          <a:prstGeom prst="roundRect">
            <a:avLst>
              <a:gd name="adj" fmla="val 1250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DEVICE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leaves the phone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9748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269748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34640" y="269748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25058" y="269748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62218" y="269748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52637" y="269748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BEDB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89797" y="269748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97480" y="342900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7D5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34640" y="342900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provider, by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25058" y="342900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62218" y="342900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one, by design — attested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52637" y="342900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89797" y="342900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697480" y="416052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7D5C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834640" y="416052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privacy policy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25058" y="416052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62218" y="416052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software images, remote attestation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52637" y="416052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D2E8E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889797" y="416052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left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892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1C1B19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97480" y="489204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34640" y="489204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chatbots and cloud assistants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25058" y="489204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62218" y="489204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PCC (2024) · Google Private AI Compute (2025)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52637" y="4892040"/>
            <a:ext cx="2890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6CB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89797" y="4892040"/>
            <a:ext cx="2616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Photos, on-device summaries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used to be a paragraph in a privacy policy. Now it can be a cryptographic proof.</a:t>
            </a:r>
            <a:endParaRPr lang="en-US" sz="1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CORE · THE REAL BURN BUTTON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every system as if “Forget me” had to work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one button that erases a person everywhere. Could your system honor it today?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2286000" cy="914400"/>
          </a:xfrm>
          <a:prstGeom prst="roundRect">
            <a:avLst>
              <a:gd name="adj" fmla="val 3000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me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 flipH="1">
            <a:off x="3017520" y="2103120"/>
            <a:ext cx="914400" cy="160020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31920" y="182880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95681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48056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phone, laptop, and cache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flipH="1">
            <a:off x="3017520" y="2743200"/>
            <a:ext cx="914400" cy="96012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931920" y="246888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5968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8056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and archives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 flipH="1">
            <a:off x="3017520" y="3383280"/>
            <a:ext cx="914400" cy="32004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3931920" y="310896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23697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8056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processors, partners, brokers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017520" y="3703320"/>
            <a:ext cx="914400" cy="32004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3931920" y="374904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87705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48056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and dashboards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3017520" y="3703320"/>
            <a:ext cx="914400" cy="96012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3931920" y="438912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51713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48056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audit, and error logs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3017520" y="3703320"/>
            <a:ext cx="914400" cy="1600200"/>
          </a:xfrm>
          <a:prstGeom prst="line">
            <a:avLst/>
          </a:prstGeom>
          <a:noFill/>
          <a:ln w="19050">
            <a:solidFill>
              <a:srgbClr val="D6452A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3931920" y="5029200"/>
            <a:ext cx="2651760" cy="548640"/>
          </a:xfrm>
          <a:prstGeom prst="roundRect">
            <a:avLst>
              <a:gd name="adj" fmla="val 2333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5157216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4805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</a:t>
            </a:r>
            <a:pPr indent="0" marL="0"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trained on it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03720" y="1828800"/>
            <a:ext cx="4739335" cy="1737360"/>
          </a:xfrm>
          <a:prstGeom prst="roundRect">
            <a:avLst>
              <a:gd name="adj" fmla="val 7368"/>
            </a:avLst>
          </a:prstGeom>
          <a:solidFill>
            <a:srgbClr val="D2E8E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132320" y="1938528"/>
            <a:ext cx="4282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THE BUTTON POSSIBLE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132320" y="2212848"/>
            <a:ext cx="4282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every copy · a key per person, so deleting the key deletes the data · deletion APIs in every vendor contract · lineage for training data · short retention by default.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6903720" y="3703320"/>
            <a:ext cx="4739335" cy="1920240"/>
          </a:xfrm>
          <a:prstGeom prst="roundRect">
            <a:avLst>
              <a:gd name="adj" fmla="val 6667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7132320" y="3822192"/>
            <a:ext cx="4282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QUESTIONS FOR ANY PRODUCT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7132320" y="4114800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makes money from this data?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7132320" y="4572000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could force us to hand it over?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132320" y="5029200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our worst day look like?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1C1B19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658368" y="58521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BUTTON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2423160" y="576072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can’t build the Forget-me button, you don’t control the data. The data controls you.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THE DESIGN EXERCISE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design review, move by move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“Design Frequent Places — the phone suggests where you are heading next.”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18745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9808" y="2075688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1488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7432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 What accuracy matters? What must never leak?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322978" y="18745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24146" y="2075688"/>
            <a:ext cx="548640" cy="548640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37378" y="21488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24146" y="27432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on-device model → suggestion UI. Mark what could leave the device.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097317" y="18745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98485" y="2075688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11717" y="21488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EXPOSURE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98485" y="27432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work, clinic, place of worship — a location history is a diary.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37033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9808" y="3904488"/>
            <a:ext cx="548640" cy="54864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39776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DESIGNS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" y="45720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server-side history. B: on-device learning, end-to-end encrypted sync, no server-readable history.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22978" y="37033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524146" y="3904488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237378" y="39776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524146" y="45720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loses some cross-device quality; recover it with encrypted sync, not plaintext.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8097317" y="3703320"/>
            <a:ext cx="3545738" cy="1645920"/>
          </a:xfrm>
          <a:prstGeom prst="roundRect">
            <a:avLst>
              <a:gd name="adj" fmla="val 777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298485" y="3904488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011717" y="3977640"/>
            <a:ext cx="2448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298485" y="457200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B. Controls: off switch, history view, delete, short retention.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 rot="-480000">
            <a:off x="10058400" y="5074920"/>
            <a:ext cx="1188720" cy="438912"/>
          </a:xfrm>
          <a:prstGeom prst="roundRect">
            <a:avLst>
              <a:gd name="adj" fmla="val 12500"/>
            </a:avLst>
          </a:prstGeom>
          <a:noFill/>
          <a:ln w="31750">
            <a:solidFill>
              <a:srgbClr val="1E6B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 B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the reasoning. In a real review, the path matters as much as the destination.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example — the numbers are invented for 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LEADERSHIP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risk as a decision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 need consequence, options, and trade-off — not a schema dump.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6452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happen?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5146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data, and how much?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what conditions?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862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to them?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1E6B63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572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change, at what cost?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1C1B1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is needed, by when?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828800"/>
            <a:ext cx="6705295" cy="416052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828800"/>
            <a:ext cx="6705295" cy="914400"/>
          </a:xfrm>
          <a:prstGeom prst="roundRect">
            <a:avLst>
              <a:gd name="adj" fmla="val 14000"/>
            </a:avLst>
          </a:prstGeom>
          <a:solidFill>
            <a:srgbClr val="EFE8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12080" y="1938528"/>
            <a:ext cx="4510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Wallet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by Friday — precise location in fraud features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880360"/>
            <a:ext cx="615665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features keep precise location for 12 months, joinable to identity.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active users; reveals home and work patterns.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or breach moderate; regulatory scrutiny high.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keep as is. (B) coarsen to city + 90-day TTL — ~0.4% recall loss, 2 eng-weeks. (C) on-device risk signal — best privacy, one quarter.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now, C on the roadmap.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 rot="360000">
            <a:off x="9494215" y="2057400"/>
            <a:ext cx="1920240" cy="45720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D6452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NEEDED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INFLUENCE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product pushes back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need the raw data for the model.” How you answer decides whether they invite you back.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2865044" cy="640080"/>
          </a:xfrm>
          <a:prstGeom prst="homePlate">
            <a:avLst/>
          </a:prstGeom>
          <a:solidFill>
            <a:srgbClr val="2E4A9E"/>
          </a:solidFill>
          <a:ln/>
        </p:spPr>
        <p:txBody>
          <a:bodyPr wrap="square" lIns="0" tIns="5080" rIns="381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259072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2715768"/>
            <a:ext cx="22249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real. “Better fraud catch matters — let’s protect it.”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322244" y="1828800"/>
            <a:ext cx="2865044" cy="640080"/>
          </a:xfrm>
          <a:prstGeom prst="chevron">
            <a:avLst/>
          </a:prstGeom>
          <a:solidFill>
            <a:srgbClr val="E39A2D"/>
          </a:solidFill>
          <a:ln/>
        </p:spPr>
        <p:txBody>
          <a:bodyPr wrap="square" lIns="0" tIns="5080" rIns="381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7964" y="2606040"/>
            <a:ext cx="259072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50844" y="2715768"/>
            <a:ext cx="22249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lift does raw data give over derived features? Offer to measure it.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1828800"/>
            <a:ext cx="2865044" cy="640080"/>
          </a:xfrm>
          <a:prstGeom prst="chevron">
            <a:avLst/>
          </a:prstGeom>
          <a:solidFill>
            <a:srgbClr val="1E6B63"/>
          </a:solidFill>
          <a:ln/>
        </p:spPr>
        <p:txBody>
          <a:bodyPr wrap="square" lIns="0" tIns="5080" rIns="381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41568" y="2606040"/>
            <a:ext cx="259072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24448" y="2715768"/>
            <a:ext cx="22249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that keeps most of the signal with tokenized, time-boxed data.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869451" y="1828800"/>
            <a:ext cx="2865044" cy="640080"/>
          </a:xfrm>
          <a:prstGeom prst="chevron">
            <a:avLst/>
          </a:prstGeom>
          <a:solidFill>
            <a:srgbClr val="7A3B69"/>
          </a:solidFill>
          <a:ln/>
        </p:spPr>
        <p:txBody>
          <a:bodyPr wrap="square" lIns="0" tIns="5080" rIns="381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 CLEANLY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171" y="2606040"/>
            <a:ext cx="2590724" cy="1417320"/>
          </a:xfrm>
          <a:prstGeom prst="roundRect">
            <a:avLst>
              <a:gd name="adj" fmla="val 903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098051" y="2715768"/>
            <a:ext cx="22249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Written trade-off, a shared decision owner, a decision date.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387188" cy="1737360"/>
          </a:xfrm>
          <a:prstGeom prst="roundRect">
            <a:avLst>
              <a:gd name="adj" fmla="val 7368"/>
            </a:avLst>
          </a:prstGeom>
          <a:solidFill>
            <a:srgbClr val="D2E8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81728"/>
            <a:ext cx="48385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understand the decision this data drives.”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smallest version we could try first?”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A/B the privacy-preserving design?”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55868" y="4251960"/>
            <a:ext cx="5387188" cy="1737360"/>
          </a:xfrm>
          <a:prstGeom prst="roundRect">
            <a:avLst>
              <a:gd name="adj" fmla="val 7368"/>
            </a:avLst>
          </a:prstGeom>
          <a:solidFill>
            <a:srgbClr val="F7D5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0188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30188" y="4681728"/>
            <a:ext cx="48385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“Legal won’t allow it.” — outsourcing your judgment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“no” with no alternative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anonymized, so it’s fine.”</a:t>
            </a:r>
            <a:endParaRPr lang="en-US" sz="13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SELF-TEST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answer at all three levels?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understanding survives follow-up questions. Answer out loud, then check the key on the next page.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416052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 w="25400">
            <a:solidFill>
              <a:srgbClr val="2E4A9E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1993392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60320"/>
            <a:ext cx="438912" cy="43891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87168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vs. security?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01568"/>
            <a:ext cx="438912" cy="43891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28416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personal data?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69664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minimize data?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84064"/>
            <a:ext cx="438912" cy="438912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0109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quasi-identifier?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322978" y="1828800"/>
            <a:ext cx="3545738" cy="416052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 w="25400">
            <a:solidFill>
              <a:srgbClr val="E39A2D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322978" y="1993392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51578" y="2560320"/>
            <a:ext cx="438912" cy="43891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45938" y="2487168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Pseudonymization vs. anonymization?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3401568"/>
            <a:ext cx="438912" cy="43891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45938" y="3328416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review consent?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51578" y="4242816"/>
            <a:ext cx="438912" cy="43891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45938" y="4169664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on-device processing enough?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551578" y="5084064"/>
            <a:ext cx="438912" cy="438912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45938" y="50109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make deletion provable?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097317" y="1828800"/>
            <a:ext cx="3545738" cy="416052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 w="25400">
            <a:solidFill>
              <a:srgbClr val="7A3B69"/>
            </a:solidFill>
            <a:prstDash val="solid"/>
          </a:ln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097317" y="1993392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5917" y="2560320"/>
            <a:ext cx="438912" cy="438912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920277" y="2487168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threat model does DP address?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325917" y="3401568"/>
            <a:ext cx="438912" cy="438912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920277" y="3328416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privacy budgets compose?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25917" y="4242816"/>
            <a:ext cx="438912" cy="438912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920277" y="4169664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central DP — when each?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25917" y="5084064"/>
            <a:ext cx="438912" cy="438912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920277" y="5010912"/>
            <a:ext cx="2539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keep fraud utility with less identity?</a:t>
            </a:r>
            <a:endParaRPr lang="en-US" sz="14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ANSWER KEY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model answers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 to say out loud; strong enough to survive the first follow-up.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545738" cy="420624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199339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96596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asks whether data should be collected or used at all; security asks whether unauthorized parties can reach it.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99923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7180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identifies, describes, locates, infers, or links to a person — device IDs and inferences included.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0507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7764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you don't hold can't be breached, subpoenaed, misused, or repurposed.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01091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E4A9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8348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harmless alone but identifying together — ZIP + birth date + sex.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978" y="1828800"/>
            <a:ext cx="3545738" cy="420624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05858" y="199339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00218" y="196596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Pseudonymized data can be re-linked and is still personal data; anonymized has no reasonably likely route back.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299923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00218" y="297180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informed and specific? Is the purpose recorded, checked at read time, and does revocation reach every copy?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05858" y="400507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00218" y="397764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value is personal to one user. For cross-user learning, add local DP or secure aggregation.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05858" y="501091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E39A2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00218" y="498348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to find copies, tombstones, crypto-shredding for backups, and post-SLA verification scans.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7317" y="1828800"/>
            <a:ext cx="3545738" cy="4206240"/>
          </a:xfrm>
          <a:prstGeom prst="roundRect">
            <a:avLst>
              <a:gd name="adj" fmla="val 3610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80197" y="199339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874557" y="196596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with any side information learning whether one person's data was used — membership and linkage.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80197" y="299923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874557" y="297180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add up: k queries at ε cost up to k·ε. Use tighter accountants and cap per-person contributions.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80197" y="400507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874557" y="397764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more accurate but trusts the curator. Local: no trust in the collector, but needs far more users.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80197" y="501091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7A3B6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74557" y="4983480"/>
            <a:ext cx="2585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derive features, time-box history, isolate identity in an audited vault — and measure the recall cost.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LANGUAGE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Phrases that weaken privacy conversations — and better ones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language is itself evidence of privacy judgment.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1031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encrypted, so it’s private.”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37760" y="224942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40680" y="210312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23560" y="210312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“Encryption stops outsiders. The question is whether we should hold it at all.”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27432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data is anonymized.”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37760" y="288950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274320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23560" y="274320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pseudonymized — still linkable. Here’s how we’d cut re-identification risk.”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3832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GDPR compliant.”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937760" y="352958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0680" y="338328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23560" y="338328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“Here’s the lawful basis, the retention, and how deletion propagates.”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0233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consented.”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937760" y="416966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0680" y="402336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23560" y="402336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“Consent covers this purpose — here’s how we enforce it at read time.”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466344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6634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“We’ll add privacy later.”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937760" y="480974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36" name="Shape 34"/>
          <p:cNvSpPr/>
          <p:nvPr/>
        </p:nvSpPr>
        <p:spPr>
          <a:xfrm>
            <a:off x="5440680" y="466344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23560" y="466344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“Building it in now costs a week; retrofitting costs a quarter.”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48640" y="5303520"/>
            <a:ext cx="4297680" cy="530352"/>
          </a:xfrm>
          <a:prstGeom prst="roundRect">
            <a:avLst>
              <a:gd name="adj" fmla="val 24138"/>
            </a:avLst>
          </a:prstGeom>
          <a:solidFill>
            <a:srgbClr val="F7D5C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53035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trike="sngStrike" dirty="0">
                <a:solidFill>
                  <a:srgbClr val="7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“Differential privacy solves it.”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937760" y="5449824"/>
            <a:ext cx="411480" cy="237744"/>
          </a:xfrm>
          <a:prstGeom prst="rightArrow">
            <a:avLst/>
          </a:prstGeom>
          <a:solidFill>
            <a:srgbClr val="E39A2D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0680" y="5303520"/>
            <a:ext cx="6202375" cy="530352"/>
          </a:xfrm>
          <a:prstGeom prst="roundRect">
            <a:avLst>
              <a:gd name="adj" fmla="val 24138"/>
            </a:avLst>
          </a:prstGeom>
          <a:solidFill>
            <a:srgbClr val="D2E8E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23560" y="5303520"/>
            <a:ext cx="5882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“DP bounds this release — here’s the ε and how repeated queries are accounted for.”</a:t>
            </a:r>
            <a:endParaRPr lang="en-US" sz="13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YOUR TURN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that reveal a team's privacy maturity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when you join a team, review a vendor, or run a workshop.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83664"/>
            <a:ext cx="603504" cy="603504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182880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privacy engineering enter product development?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21284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designs — or cleaning up after them?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06624"/>
            <a:ext cx="603504" cy="603504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65176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privacy finding change the architecture?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03580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real authority the function has.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9584"/>
            <a:ext cx="603504" cy="603504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47472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controls are enforced by code, and which live in documents?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5876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enforcement ladder on p. 46, applied to a real team.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52544"/>
            <a:ext cx="603504" cy="603504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9768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team most often disagree with product or engineering?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68172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real tensions behind the process.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75504"/>
            <a:ext cx="603504" cy="603504"/>
          </a:xfrm>
          <a:prstGeom prst="ellipse">
            <a:avLst/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12064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privacy promise would you refuse to break, even for a launch date?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50468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values underneath the checklists.</a:t>
            </a:r>
            <a:endParaRPr lang="en-US" sz="12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STUDY PLAN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seven-day self-study path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ends by explaining one idea out loud. Page numbers point back into this guide.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2029968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04825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24942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74320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scenarios · lifecycle · harms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40156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03–20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79394" y="182880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80562" y="2029968"/>
            <a:ext cx="548640" cy="548640"/>
          </a:xfrm>
          <a:prstGeom prst="ellipse">
            <a:avLst/>
          </a:prstGeom>
          <a:solidFill>
            <a:srgbClr val="1E6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293794" y="204825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293794" y="224942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&amp; RIGHTS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80562" y="274320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· rights → requirements · consent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80562" y="340156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21–26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0148" y="182880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11316" y="2029968"/>
            <a:ext cx="548640" cy="548640"/>
          </a:xfrm>
          <a:prstGeom prst="ellipse">
            <a:avLst/>
          </a:prstGeom>
          <a:solidFill>
            <a:srgbClr val="E39A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24548" y="204825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24548" y="224942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5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11316" y="274320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· retention · de-identification · deletion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11316" y="340156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24–30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40901" y="182880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242069" y="2029968"/>
            <a:ext cx="548640" cy="548640"/>
          </a:xfrm>
          <a:prstGeom prst="ellipse">
            <a:avLst/>
          </a:prstGeom>
          <a:solidFill>
            <a:srgbClr val="7A3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955301" y="204825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955301" y="224942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242069" y="274320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· budgets · k-anonymity · FL · MPC / HE / TEE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42069" y="340156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32–39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93192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49808" y="4133088"/>
            <a:ext cx="548640" cy="548640"/>
          </a:xfrm>
          <a:prstGeom prst="ellipse">
            <a:avLst/>
          </a:prstGeom>
          <a:solidFill>
            <a:srgbClr val="D64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463040" y="415137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435254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 &amp; TRACKING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484632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models · reviews · cases · cookies · IDFA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550468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40–64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79394" y="393192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3580562" y="4133088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4293794" y="415137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6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293794" y="435254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&amp; THE CORE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580562" y="484632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Apple · incentives · breaches · AI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580562" y="550468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66–104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0148" y="393192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411316" y="4133088"/>
            <a:ext cx="548640" cy="548640"/>
          </a:xfrm>
          <a:prstGeom prst="ellipse">
            <a:avLst/>
          </a:prstGeom>
          <a:solidFill>
            <a:srgbClr val="2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7124548" y="4151376"/>
            <a:ext cx="1504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7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124548" y="4352544"/>
            <a:ext cx="1504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HOUR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11316" y="4846320"/>
            <a:ext cx="2199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exercise · risk memo · pushback · self-test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411316" y="5504688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pp. 105–109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40901" y="3931920"/>
            <a:ext cx="2602154" cy="1920240"/>
          </a:xfrm>
          <a:prstGeom prst="roundRect">
            <a:avLst>
              <a:gd name="adj" fmla="val 6667"/>
            </a:avLst>
          </a:prstGeom>
          <a:solidFill>
            <a:srgbClr val="F2C14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9269501" y="4114800"/>
            <a:ext cx="214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269501" y="4434840"/>
            <a:ext cx="21449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one idea out loud. Record it. Listen once. Fix one thing.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E4A9E"/>
          </a:solidFill>
          <a:ln w="12700">
            <a:solidFill>
              <a:srgbClr val="2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LOOK · THE WHOLE GUIDE ON ONE PAGE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one-slide mental model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10048" cy="1828800"/>
          </a:xfrm>
          <a:prstGeom prst="roundRect">
            <a:avLst>
              <a:gd name="adj" fmla="val 8000"/>
            </a:avLst>
          </a:prstGeom>
          <a:solidFill>
            <a:srgbClr val="1E6B63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78308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68680" y="17830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THE DATA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286000"/>
            <a:ext cx="394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enters? · Where does it go? · How long does it stay?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233008" y="1508760"/>
            <a:ext cx="5410048" cy="1828800"/>
          </a:xfrm>
          <a:prstGeom prst="roundRect">
            <a:avLst>
              <a:gd name="adj" fmla="val 8000"/>
            </a:avLst>
          </a:prstGeom>
          <a:solidFill>
            <a:srgbClr val="E39A2D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78308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53048" y="17830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THE PERSON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53048" y="2286000"/>
            <a:ext cx="394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be inferred? · Can contexts be linked? · Can they control it?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548640" y="3520440"/>
            <a:ext cx="5410048" cy="1828800"/>
          </a:xfrm>
          <a:prstGeom prst="roundRect">
            <a:avLst>
              <a:gd name="adj" fmla="val 8000"/>
            </a:avLst>
          </a:prstGeom>
          <a:solidFill>
            <a:srgbClr val="D6452A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379476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8680" y="379476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 EXPOSURE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297680"/>
            <a:ext cx="394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less · process locally · unlink · aggregate · expire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233008" y="3520440"/>
            <a:ext cx="5410048" cy="1828800"/>
          </a:xfrm>
          <a:prstGeom prst="roundRect">
            <a:avLst>
              <a:gd name="adj" fmla="val 8000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379476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53048" y="379476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DECISION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553048" y="4297680"/>
            <a:ext cx="394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· options · utility · recommendation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596128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1C1B19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says what should happen. Architecture determines whether it actually happens.</a:t>
            </a:r>
            <a:endParaRPr lang="en-US" sz="1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ENGINEERING · A VISUAL FIELD GUIDE · PADDYSPEAKS.COM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· GLOSSARY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terms, one line each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term on an earlier page felt fuzzy, it is probably here.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1051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1810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81051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information relating to an identified or identifiable person.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3629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3362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Quasi-identifier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33629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that identifies someone only in combination (ZIP, birth date, sex).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6207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2862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286207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identifiers with surrogates; re-linkable with extra information.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38785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3878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38785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so no one is reasonably likely to be re-identified.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913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391363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keep only what the stated purpose needs.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3941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4394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443941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only for the purposes it was collected for.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6519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965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496519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GDPR's six legal grounds for processing, such as consent or contract.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49097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4909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549097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access request: a person asks what you hold about them.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55868" y="181051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38748" y="1810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67548" y="181051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impact assessment for high-risk processing.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55868" y="233629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38748" y="23362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integrity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267548" y="233629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appropriate flows that match the norms of their context.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55868" y="286207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38748" y="2862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267548" y="286207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barely change whether or not any one person is included.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55868" y="338785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38748" y="33878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267548" y="338785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DP's privacy-loss parameter; smaller means stronger privacy.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55868" y="391363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38748" y="3913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67548" y="391363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shares its quasi-identifiers with at least k−1 others.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55868" y="443941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38748" y="44394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aggregation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267548" y="443941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learns only the sum of many clients' updates.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55868" y="496519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FFDF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38748" y="4965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267548" y="496519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execution environment: hardware-isolated, attestable compute.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55868" y="5490972"/>
            <a:ext cx="5387188" cy="457200"/>
          </a:xfrm>
          <a:prstGeom prst="roundRect">
            <a:avLst>
              <a:gd name="adj" fmla="val 16000"/>
            </a:avLst>
          </a:prstGeom>
          <a:solidFill>
            <a:srgbClr val="FBF6E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438748" y="54909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Crypto-shredding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267548" y="5490972"/>
            <a:ext cx="323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data everywhere by destroying the key that encrypts it.</a:t>
            </a:r>
            <a:endParaRPr lang="en-US" sz="11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99471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57839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7023" y="384048"/>
            <a:ext cx="256032" cy="256032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D6CB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current as of September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3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· PRIMARY SOURCES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665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deeper after the deck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beat summaries. Start with the Apple documents, then the classics.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29968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1847088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Privacy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apple.com/privacy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55868" y="1828800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8748" y="2029968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58788" y="1847088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Platform Security guide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support.apple.com/guide/security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496312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697480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2514600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 Security &amp; Privacy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support.apple.com/en-us/101554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55868" y="2496312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8748" y="2697480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58788" y="2514600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 Tracking Prevention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webkit.org/tracking-prevention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163824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364992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3182112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Privacy at Scale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machinelearning.apple.com/research/learning-with-privacy-at-scale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55868" y="3163824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8748" y="3364992"/>
            <a:ext cx="164592" cy="164592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58788" y="3182112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Compute Security Guide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security.apple.com/documentation/private-cloud-compute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831336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32504"/>
            <a:ext cx="164592" cy="164592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1560" y="3849624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Privacy Framework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nist.gov/privacy-framework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55868" y="3831336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38748" y="4032504"/>
            <a:ext cx="164592" cy="164592"/>
          </a:xfrm>
          <a:prstGeom prst="ellipse">
            <a:avLst/>
          </a:prstGeom>
          <a:solidFill>
            <a:srgbClr val="1E6B6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58788" y="3849624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LINDDUN privacy threat modeling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linddun.org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498848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700016"/>
            <a:ext cx="164592" cy="16459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1560" y="4517136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Dwork &amp; Roth, The Algorithmic Foundations of Differential Privacy (2014)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from the authors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55868" y="4498848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38748" y="4700016"/>
            <a:ext cx="164592" cy="16459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58788" y="4517136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Sweeney, Simple Demographics Often Identify People Uniquely (2000)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Carnegie Mellon University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1520" y="5367528"/>
            <a:ext cx="164592" cy="16459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1560" y="5184648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Nissenbaum, Privacy in Context (2010)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Stanford University Press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55868" y="5166360"/>
            <a:ext cx="5387188" cy="566928"/>
          </a:xfrm>
          <a:prstGeom prst="roundRect">
            <a:avLst>
              <a:gd name="adj" fmla="val 1612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7000" dist="38100" dir="5400000">
              <a:srgbClr val="5A4630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38748" y="5367528"/>
            <a:ext cx="164592" cy="164592"/>
          </a:xfrm>
          <a:prstGeom prst="ellipse">
            <a:avLst/>
          </a:prstGeom>
          <a:solidFill>
            <a:srgbClr val="D6452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758788" y="5184648"/>
            <a:ext cx="47013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Cavoukian, Privacy by Design: The 7 Foundational Principles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&amp; Privacy Commissioner of Ontario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       </a:t>
            </a:r>
            <a:pPr indent="0" marL="0">
              <a:buNone/>
            </a:pPr>
            <a:r>
              <a:rPr lang="en-US" sz="1000" dirty="0">
                <a:solidFill>
                  <a:srgbClr val="1E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frameworks        </a:t>
            </a:r>
            <a:pPr indent="0" marL="0">
              <a:buNone/>
            </a:pPr>
            <a:r>
              <a:rPr lang="en-US" sz="1000" dirty="0">
                <a:solidFill>
                  <a:srgbClr val="D64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 papers &amp; books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714500"/>
          </a:xfrm>
          <a:prstGeom prst="rect">
            <a:avLst/>
          </a:prstGeom>
          <a:solidFill>
            <a:srgbClr val="E39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0"/>
            <a:ext cx="256032" cy="1714500"/>
          </a:xfrm>
          <a:prstGeom prst="rect">
            <a:avLst/>
          </a:prstGeom>
          <a:solidFill>
            <a:srgbClr val="1E6B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0"/>
            <a:ext cx="256032" cy="1714500"/>
          </a:xfrm>
          <a:prstGeom prst="rect">
            <a:avLst/>
          </a:prstGeom>
          <a:solidFill>
            <a:srgbClr val="D64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0"/>
            <a:ext cx="256032" cy="1714500"/>
          </a:xfrm>
          <a:prstGeom prst="rect">
            <a:avLst/>
          </a:prstGeom>
          <a:solidFill>
            <a:srgbClr val="2E4A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FOR READING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the goal.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keeps it.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sets the minimum.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 puts it in people’s hands.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3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and teach with it — please link back to the original.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2064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2C14E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PADDYSPEAKS.COM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C9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Iyer · Status as of September 2026 — privacy moves fast, so check the primary sources on p. 115.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63040"/>
            <a:ext cx="292608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 rot="-420000">
            <a:off x="8869680" y="4937760"/>
            <a:ext cx="2560320" cy="502920"/>
          </a:xfrm>
          <a:prstGeom prst="roundRect">
            <a:avLst>
              <a:gd name="adj" fmla="val 10909"/>
            </a:avLst>
          </a:prstGeom>
          <a:noFill/>
          <a:ln w="31750"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NEWBIE → EXPERT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Engineering — A Visual Field Guide</dc:title>
  <dc:subject>PptxGenJS Presentation</dc:subject>
  <dc:creator>Paddy Iyer</dc:creator>
  <cp:lastModifiedBy>Paddy Iyer</cp:lastModifiedBy>
  <cp:revision>1</cp:revision>
  <dcterms:created xsi:type="dcterms:W3CDTF">2026-09-26T02:38:24Z</dcterms:created>
  <dcterms:modified xsi:type="dcterms:W3CDTF">2026-09-26T02:38:24Z</dcterms:modified>
</cp:coreProperties>
</file>